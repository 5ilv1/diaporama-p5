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F57F17"/>
          </a:solidFill>
          <a:ln w="12700">
            <a:solidFill>
              <a:srgbClr val="F57F17"/>
            </a:solidFill>
            <a:prstDash val="solid"/>
          </a:ln>
        </p:spPr>
      </p:sp>
      <p:sp>
        <p:nvSpPr>
          <p:cNvPr id="3" name="Text 1"/>
          <p:cNvSpPr/>
          <p:nvPr/>
        </p:nvSpPr>
        <p:spPr>
          <a:xfrm>
            <a:off x="548640" y="731520"/>
            <a:ext cx="8046720" cy="822960"/>
          </a:xfrm>
          <a:prstGeom prst="rect">
            <a:avLst/>
          </a:prstGeom>
          <a:noFill/>
          <a:ln/>
        </p:spPr>
        <p:txBody>
          <a:bodyPr wrap="square" rtlCol="0" anchor="ctr"/>
          <a:lstStyle/>
          <a:p>
            <a:pPr algn="ctr" indent="0" marL="0">
              <a:buNone/>
            </a:pPr>
            <a:r>
              <a:rPr lang="en-US" sz="3800" b="1" dirty="0">
                <a:solidFill>
                  <a:srgbClr val="FFFFFF"/>
                </a:solidFill>
                <a:latin typeface="Trebuchet MS" pitchFamily="34" charset="0"/>
                <a:ea typeface="Trebuchet MS" pitchFamily="34" charset="-122"/>
                <a:cs typeface="Trebuchet MS" pitchFamily="34" charset="-120"/>
              </a:rPr>
              <a:t>Production d'écrits</a:t>
            </a:r>
            <a:endParaRPr lang="en-US" sz="3800" dirty="0"/>
          </a:p>
        </p:txBody>
      </p:sp>
      <p:sp>
        <p:nvSpPr>
          <p:cNvPr id="4" name="Text 2"/>
          <p:cNvSpPr/>
          <p:nvPr/>
        </p:nvSpPr>
        <p:spPr>
          <a:xfrm>
            <a:off x="548640" y="1600200"/>
            <a:ext cx="8046720" cy="640080"/>
          </a:xfrm>
          <a:prstGeom prst="rect">
            <a:avLst/>
          </a:prstGeom>
          <a:noFill/>
          <a:ln/>
        </p:spPr>
        <p:txBody>
          <a:bodyPr wrap="square" rtlCol="0" anchor="ctr"/>
          <a:lstStyle/>
          <a:p>
            <a:pPr algn="ctr" indent="0" marL="0">
              <a:buNone/>
            </a:pPr>
            <a:r>
              <a:rPr lang="en-US" sz="2400" i="1" dirty="0">
                <a:solidFill>
                  <a:srgbClr val="CADCFC"/>
                </a:solidFill>
                <a:latin typeface="Trebuchet MS" pitchFamily="34" charset="0"/>
                <a:ea typeface="Trebuchet MS" pitchFamily="34" charset="-122"/>
                <a:cs typeface="Trebuchet MS" pitchFamily="34" charset="-120"/>
              </a:rPr>
              <a:t>Phase 4 — Exercice collectif</a:t>
            </a:r>
            <a:endParaRPr lang="en-US" sz="2400" dirty="0"/>
          </a:p>
        </p:txBody>
      </p:sp>
      <p:sp>
        <p:nvSpPr>
          <p:cNvPr id="5" name="Text 3"/>
          <p:cNvSpPr/>
          <p:nvPr/>
        </p:nvSpPr>
        <p:spPr>
          <a:xfrm>
            <a:off x="548640" y="2377440"/>
            <a:ext cx="8046720" cy="457200"/>
          </a:xfrm>
          <a:prstGeom prst="rect">
            <a:avLst/>
          </a:prstGeom>
          <a:noFill/>
          <a:ln/>
        </p:spPr>
        <p:txBody>
          <a:bodyPr wrap="square" rtlCol="0" anchor="ctr"/>
          <a:lstStyle/>
          <a:p>
            <a:pPr algn="ctr" indent="0" marL="0">
              <a:buNone/>
            </a:pPr>
            <a:r>
              <a:rPr lang="en-US" sz="1600" dirty="0">
                <a:solidFill>
                  <a:srgbClr val="90CAF9"/>
                </a:solidFill>
                <a:latin typeface="Calibri" pitchFamily="34" charset="0"/>
                <a:ea typeface="Calibri" pitchFamily="34" charset="-122"/>
                <a:cs typeface="Calibri" pitchFamily="34" charset="-120"/>
              </a:rPr>
              <a:t>Avant de travailler seul·e, on réfléchit ensemble !</a:t>
            </a:r>
            <a:endParaRPr lang="en-US" sz="1600" dirty="0"/>
          </a:p>
        </p:txBody>
      </p:sp>
      <p:sp>
        <p:nvSpPr>
          <p:cNvPr id="6" name="Shape 4"/>
          <p:cNvSpPr/>
          <p:nvPr/>
        </p:nvSpPr>
        <p:spPr>
          <a:xfrm>
            <a:off x="2560320" y="3584448"/>
            <a:ext cx="1097280" cy="502920"/>
          </a:xfrm>
          <a:prstGeom prst="roundRect">
            <a:avLst>
              <a:gd name="adj" fmla="val 14545"/>
            </a:avLst>
          </a:prstGeom>
          <a:solidFill>
            <a:srgbClr val="2E7D32"/>
          </a:solidFill>
          <a:ln w="12700">
            <a:solidFill>
              <a:srgbClr val="2E7D32"/>
            </a:solidFill>
            <a:prstDash val="solid"/>
          </a:ln>
        </p:spPr>
      </p:sp>
      <p:sp>
        <p:nvSpPr>
          <p:cNvPr id="7" name="Text 5"/>
          <p:cNvSpPr/>
          <p:nvPr/>
        </p:nvSpPr>
        <p:spPr>
          <a:xfrm>
            <a:off x="2560320" y="3621024"/>
            <a:ext cx="1097280" cy="429768"/>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CE2</a:t>
            </a:r>
            <a:endParaRPr lang="en-US" sz="1700" dirty="0"/>
          </a:p>
        </p:txBody>
      </p:sp>
      <p:sp>
        <p:nvSpPr>
          <p:cNvPr id="8" name="Shape 6"/>
          <p:cNvSpPr/>
          <p:nvPr/>
        </p:nvSpPr>
        <p:spPr>
          <a:xfrm>
            <a:off x="4251960" y="3584448"/>
            <a:ext cx="1097280" cy="502920"/>
          </a:xfrm>
          <a:prstGeom prst="roundRect">
            <a:avLst>
              <a:gd name="adj" fmla="val 14545"/>
            </a:avLst>
          </a:prstGeom>
          <a:solidFill>
            <a:srgbClr val="1565C0"/>
          </a:solidFill>
          <a:ln w="12700">
            <a:solidFill>
              <a:srgbClr val="1565C0"/>
            </a:solidFill>
            <a:prstDash val="solid"/>
          </a:ln>
        </p:spPr>
      </p:sp>
      <p:sp>
        <p:nvSpPr>
          <p:cNvPr id="9" name="Text 7"/>
          <p:cNvSpPr/>
          <p:nvPr/>
        </p:nvSpPr>
        <p:spPr>
          <a:xfrm>
            <a:off x="4251960" y="3621024"/>
            <a:ext cx="1097280" cy="429768"/>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CM1</a:t>
            </a:r>
            <a:endParaRPr lang="en-US" sz="1700" dirty="0"/>
          </a:p>
        </p:txBody>
      </p:sp>
      <p:sp>
        <p:nvSpPr>
          <p:cNvPr id="10" name="Shape 8"/>
          <p:cNvSpPr/>
          <p:nvPr/>
        </p:nvSpPr>
        <p:spPr>
          <a:xfrm>
            <a:off x="5943600" y="3584448"/>
            <a:ext cx="1097280" cy="502920"/>
          </a:xfrm>
          <a:prstGeom prst="roundRect">
            <a:avLst>
              <a:gd name="adj" fmla="val 14545"/>
            </a:avLst>
          </a:prstGeom>
          <a:solidFill>
            <a:srgbClr val="6A1B9A"/>
          </a:solidFill>
          <a:ln w="12700">
            <a:solidFill>
              <a:srgbClr val="6A1B9A"/>
            </a:solidFill>
            <a:prstDash val="solid"/>
          </a:ln>
        </p:spPr>
      </p:sp>
      <p:sp>
        <p:nvSpPr>
          <p:cNvPr id="11" name="Text 9"/>
          <p:cNvSpPr/>
          <p:nvPr/>
        </p:nvSpPr>
        <p:spPr>
          <a:xfrm>
            <a:off x="5943600" y="3621024"/>
            <a:ext cx="1097280" cy="429768"/>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CM2</a:t>
            </a:r>
            <a:endParaRPr lang="en-US" sz="1700" dirty="0"/>
          </a:p>
        </p:txBody>
      </p:sp>
      <p:sp>
        <p:nvSpPr>
          <p:cNvPr id="12" name="Text 10"/>
          <p:cNvSpPr/>
          <p:nvPr/>
        </p:nvSpPr>
        <p:spPr>
          <a:xfrm>
            <a:off x="548640" y="4526280"/>
            <a:ext cx="8046720" cy="320040"/>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Période 5 · Jeudis matin · 5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E7D32"/>
          </a:solidFill>
          <a:ln w="12700">
            <a:solidFill>
              <a:srgbClr val="2E7D32"/>
            </a:solidFill>
            <a:prstDash val="solid"/>
          </a:ln>
        </p:spPr>
      </p:sp>
      <p:sp>
        <p:nvSpPr>
          <p:cNvPr id="3" name="Text 1"/>
          <p:cNvSpPr/>
          <p:nvPr/>
        </p:nvSpPr>
        <p:spPr>
          <a:xfrm>
            <a:off x="228600" y="164592"/>
            <a:ext cx="8686800" cy="594360"/>
          </a:xfrm>
          <a:prstGeom prst="rect">
            <a:avLst/>
          </a:prstGeom>
          <a:noFill/>
          <a:ln/>
        </p:spPr>
        <p:txBody>
          <a:bodyPr wrap="square" lIns="0" tIns="0" rIns="0" bIns="0" rtlCol="0" anchor="ctr"/>
          <a:lstStyle/>
          <a:p>
            <a:pPr algn="l" indent="0" marL="0">
              <a:buNone/>
            </a:pPr>
            <a:r>
              <a:rPr lang="en-US" sz="2800" b="1" dirty="0">
                <a:solidFill>
                  <a:srgbClr val="1A1A2E"/>
                </a:solidFill>
                <a:latin typeface="Trebuchet MS" pitchFamily="34" charset="0"/>
                <a:ea typeface="Trebuchet MS" pitchFamily="34" charset="-122"/>
                <a:cs typeface="Trebuchet MS" pitchFamily="34" charset="-120"/>
              </a:rPr>
              <a:t>Phrase complète ou pas ?</a:t>
            </a:r>
            <a:endParaRPr lang="en-US" sz="2800" dirty="0"/>
          </a:p>
        </p:txBody>
      </p:sp>
      <p:sp>
        <p:nvSpPr>
          <p:cNvPr id="4" name="Text 2"/>
          <p:cNvSpPr/>
          <p:nvPr/>
        </p:nvSpPr>
        <p:spPr>
          <a:xfrm>
            <a:off x="228600" y="749808"/>
            <a:ext cx="6400800" cy="292608"/>
          </a:xfrm>
          <a:prstGeom prst="rect">
            <a:avLst/>
          </a:prstGeom>
          <a:noFill/>
          <a:ln/>
        </p:spPr>
        <p:txBody>
          <a:bodyPr wrap="square" lIns="0" tIns="0" rIns="0" bIns="0" rtlCol="0" anchor="ctr"/>
          <a:lstStyle/>
          <a:p>
            <a:pPr algn="l" indent="0" marL="0">
              <a:buNone/>
            </a:pPr>
            <a:r>
              <a:rPr lang="en-US" sz="1300" i="1" dirty="0">
                <a:solidFill>
                  <a:srgbClr val="546E7A"/>
                </a:solidFill>
                <a:latin typeface="Calibri" pitchFamily="34" charset="0"/>
                <a:ea typeface="Calibri" pitchFamily="34" charset="-122"/>
                <a:cs typeface="Calibri" pitchFamily="34" charset="-120"/>
              </a:rPr>
              <a:t>S1 — La phrase bien construite</a:t>
            </a:r>
            <a:endParaRPr lang="en-US" sz="1300" dirty="0"/>
          </a:p>
        </p:txBody>
      </p:sp>
      <p:sp>
        <p:nvSpPr>
          <p:cNvPr id="5" name="Shape 3"/>
          <p:cNvSpPr/>
          <p:nvPr/>
        </p:nvSpPr>
        <p:spPr>
          <a:xfrm>
            <a:off x="228600" y="1060704"/>
            <a:ext cx="8686800" cy="0"/>
          </a:xfrm>
          <a:prstGeom prst="line">
            <a:avLst/>
          </a:prstGeom>
          <a:noFill/>
          <a:ln w="12700">
            <a:solidFill>
              <a:srgbClr val="CFD8DC"/>
            </a:solidFill>
            <a:prstDash val="solid"/>
          </a:ln>
        </p:spPr>
      </p:sp>
      <p:sp>
        <p:nvSpPr>
          <p:cNvPr id="6" name="Shape 4"/>
          <p:cNvSpPr/>
          <p:nvPr/>
        </p:nvSpPr>
        <p:spPr>
          <a:xfrm>
            <a:off x="8412480" y="91440"/>
            <a:ext cx="594360" cy="594360"/>
          </a:xfrm>
          <a:prstGeom prst="ellipse">
            <a:avLst/>
          </a:prstGeom>
          <a:solidFill>
            <a:srgbClr val="F57F17"/>
          </a:solidFill>
          <a:ln w="12700">
            <a:solidFill>
              <a:srgbClr val="F57F17"/>
            </a:solidFill>
            <a:prstDash val="solid"/>
          </a:ln>
        </p:spPr>
      </p:sp>
      <p:sp>
        <p:nvSpPr>
          <p:cNvPr id="7" name="Text 5"/>
          <p:cNvSpPr/>
          <p:nvPr/>
        </p:nvSpPr>
        <p:spPr>
          <a:xfrm>
            <a:off x="8412480" y="128016"/>
            <a:ext cx="594360" cy="52120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S1</a:t>
            </a:r>
            <a:endParaRPr lang="en-US" sz="1800" dirty="0"/>
          </a:p>
        </p:txBody>
      </p:sp>
      <p:sp>
        <p:nvSpPr>
          <p:cNvPr id="8" name="Shape 6"/>
          <p:cNvSpPr/>
          <p:nvPr/>
        </p:nvSpPr>
        <p:spPr>
          <a:xfrm>
            <a:off x="228600" y="1170432"/>
            <a:ext cx="8686800" cy="594360"/>
          </a:xfrm>
          <a:prstGeom prst="rect">
            <a:avLst/>
          </a:prstGeom>
          <a:solidFill>
            <a:srgbClr val="E8F5E9"/>
          </a:solidFill>
          <a:ln w="25400">
            <a:solidFill>
              <a:srgbClr val="2E7D32"/>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365760" y="1243584"/>
            <a:ext cx="8412480" cy="448056"/>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Pour chaque exemple, levez la main : phrase complète ✓ ou incomplète ✗ ? Expliquez pourquoi.</a:t>
            </a:r>
            <a:endParaRPr lang="en-US" sz="1400" dirty="0"/>
          </a:p>
        </p:txBody>
      </p:sp>
      <p:sp>
        <p:nvSpPr>
          <p:cNvPr id="10" name="Shape 8"/>
          <p:cNvSpPr/>
          <p:nvPr/>
        </p:nvSpPr>
        <p:spPr>
          <a:xfrm>
            <a:off x="228600" y="1920240"/>
            <a:ext cx="7498080" cy="530352"/>
          </a:xfrm>
          <a:prstGeom prst="rect">
            <a:avLst/>
          </a:prstGeom>
          <a:solidFill>
            <a:srgbClr val="FFF3E0"/>
          </a:solidFill>
          <a:ln w="12700">
            <a:solidFill>
              <a:srgbClr val="EF6C00"/>
            </a:solidFill>
            <a:prstDash val="solid"/>
          </a:ln>
        </p:spPr>
      </p:sp>
      <p:sp>
        <p:nvSpPr>
          <p:cNvPr id="11" name="Text 9"/>
          <p:cNvSpPr/>
          <p:nvPr/>
        </p:nvSpPr>
        <p:spPr>
          <a:xfrm>
            <a:off x="411480" y="1965960"/>
            <a:ext cx="6675120" cy="438912"/>
          </a:xfrm>
          <a:prstGeom prst="rect">
            <a:avLst/>
          </a:prstGeom>
          <a:noFill/>
          <a:ln/>
        </p:spPr>
        <p:txBody>
          <a:bodyPr wrap="square" lIns="0" tIns="0" rIns="0" bIns="0" rtlCol="0" anchor="ctr"/>
          <a:lstStyle/>
          <a:p>
            <a:pPr algn="l" indent="0" marL="0">
              <a:buNone/>
            </a:pPr>
            <a:r>
              <a:rPr lang="en-US" sz="1800" i="1" dirty="0">
                <a:solidFill>
                  <a:srgbClr val="1A1A2E"/>
                </a:solidFill>
                <a:latin typeface="Calibri" pitchFamily="34" charset="0"/>
                <a:ea typeface="Calibri" pitchFamily="34" charset="-122"/>
                <a:cs typeface="Calibri" pitchFamily="34" charset="-120"/>
              </a:rPr>
              <a:t>« Le chien. »</a:t>
            </a:r>
            <a:endParaRPr lang="en-US" sz="1800" dirty="0"/>
          </a:p>
        </p:txBody>
      </p:sp>
      <p:sp>
        <p:nvSpPr>
          <p:cNvPr id="12" name="Shape 10"/>
          <p:cNvSpPr/>
          <p:nvPr/>
        </p:nvSpPr>
        <p:spPr>
          <a:xfrm>
            <a:off x="7863840" y="2029968"/>
            <a:ext cx="411480" cy="320040"/>
          </a:xfrm>
          <a:prstGeom prst="roundRect">
            <a:avLst>
              <a:gd name="adj" fmla="val 14286"/>
            </a:avLst>
          </a:prstGeom>
          <a:solidFill>
            <a:srgbClr val="E53935"/>
          </a:solidFill>
          <a:ln w="12700">
            <a:solidFill>
              <a:srgbClr val="E53935"/>
            </a:solidFill>
            <a:prstDash val="solid"/>
          </a:ln>
        </p:spPr>
      </p:sp>
      <p:sp>
        <p:nvSpPr>
          <p:cNvPr id="13" name="Text 11"/>
          <p:cNvSpPr/>
          <p:nvPr/>
        </p:nvSpPr>
        <p:spPr>
          <a:xfrm>
            <a:off x="7863840" y="2039112"/>
            <a:ext cx="411480"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228600" y="2578608"/>
            <a:ext cx="7498080" cy="530352"/>
          </a:xfrm>
          <a:prstGeom prst="rect">
            <a:avLst/>
          </a:prstGeom>
          <a:solidFill>
            <a:srgbClr val="FFF3E0"/>
          </a:solidFill>
          <a:ln w="12700">
            <a:solidFill>
              <a:srgbClr val="EF6C00"/>
            </a:solidFill>
            <a:prstDash val="solid"/>
          </a:ln>
        </p:spPr>
      </p:sp>
      <p:sp>
        <p:nvSpPr>
          <p:cNvPr id="15" name="Text 13"/>
          <p:cNvSpPr/>
          <p:nvPr/>
        </p:nvSpPr>
        <p:spPr>
          <a:xfrm>
            <a:off x="411480" y="2624328"/>
            <a:ext cx="6675120" cy="438912"/>
          </a:xfrm>
          <a:prstGeom prst="rect">
            <a:avLst/>
          </a:prstGeom>
          <a:noFill/>
          <a:ln/>
        </p:spPr>
        <p:txBody>
          <a:bodyPr wrap="square" lIns="0" tIns="0" rIns="0" bIns="0" rtlCol="0" anchor="ctr"/>
          <a:lstStyle/>
          <a:p>
            <a:pPr algn="l" indent="0" marL="0">
              <a:buNone/>
            </a:pPr>
            <a:r>
              <a:rPr lang="en-US" sz="1800" i="1" dirty="0">
                <a:solidFill>
                  <a:srgbClr val="1A1A2E"/>
                </a:solidFill>
                <a:latin typeface="Calibri" pitchFamily="34" charset="0"/>
                <a:ea typeface="Calibri" pitchFamily="34" charset="-122"/>
                <a:cs typeface="Calibri" pitchFamily="34" charset="-120"/>
              </a:rPr>
              <a:t>« Court très vite. »</a:t>
            </a:r>
            <a:endParaRPr lang="en-US" sz="1800" dirty="0"/>
          </a:p>
        </p:txBody>
      </p:sp>
      <p:sp>
        <p:nvSpPr>
          <p:cNvPr id="16" name="Shape 14"/>
          <p:cNvSpPr/>
          <p:nvPr/>
        </p:nvSpPr>
        <p:spPr>
          <a:xfrm>
            <a:off x="7863840" y="2688336"/>
            <a:ext cx="411480" cy="320040"/>
          </a:xfrm>
          <a:prstGeom prst="roundRect">
            <a:avLst>
              <a:gd name="adj" fmla="val 14286"/>
            </a:avLst>
          </a:prstGeom>
          <a:solidFill>
            <a:srgbClr val="E53935"/>
          </a:solidFill>
          <a:ln w="12700">
            <a:solidFill>
              <a:srgbClr val="E53935"/>
            </a:solidFill>
            <a:prstDash val="solid"/>
          </a:ln>
        </p:spPr>
      </p:sp>
      <p:sp>
        <p:nvSpPr>
          <p:cNvPr id="17" name="Text 15"/>
          <p:cNvSpPr/>
          <p:nvPr/>
        </p:nvSpPr>
        <p:spPr>
          <a:xfrm>
            <a:off x="7863840" y="2697480"/>
            <a:ext cx="411480"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228600" y="3236976"/>
            <a:ext cx="7498080" cy="530352"/>
          </a:xfrm>
          <a:prstGeom prst="rect">
            <a:avLst/>
          </a:prstGeom>
          <a:solidFill>
            <a:srgbClr val="E8F5E9"/>
          </a:solidFill>
          <a:ln w="12700">
            <a:solidFill>
              <a:srgbClr val="2E7D32"/>
            </a:solidFill>
            <a:prstDash val="solid"/>
          </a:ln>
        </p:spPr>
      </p:sp>
      <p:sp>
        <p:nvSpPr>
          <p:cNvPr id="19" name="Text 17"/>
          <p:cNvSpPr/>
          <p:nvPr/>
        </p:nvSpPr>
        <p:spPr>
          <a:xfrm>
            <a:off x="411480" y="3282696"/>
            <a:ext cx="6675120" cy="438912"/>
          </a:xfrm>
          <a:prstGeom prst="rect">
            <a:avLst/>
          </a:prstGeom>
          <a:noFill/>
          <a:ln/>
        </p:spPr>
        <p:txBody>
          <a:bodyPr wrap="square" lIns="0" tIns="0" rIns="0" bIns="0" rtlCol="0" anchor="ctr"/>
          <a:lstStyle/>
          <a:p>
            <a:pPr algn="l" indent="0" marL="0">
              <a:buNone/>
            </a:pPr>
            <a:r>
              <a:rPr lang="en-US" sz="1800" i="1" dirty="0">
                <a:solidFill>
                  <a:srgbClr val="1A1A2E"/>
                </a:solidFill>
                <a:latin typeface="Calibri" pitchFamily="34" charset="0"/>
                <a:ea typeface="Calibri" pitchFamily="34" charset="-122"/>
                <a:cs typeface="Calibri" pitchFamily="34" charset="-120"/>
              </a:rPr>
              <a:t>« La maîtresse écrit au tableau. »</a:t>
            </a:r>
            <a:endParaRPr lang="en-US" sz="1800" dirty="0"/>
          </a:p>
        </p:txBody>
      </p:sp>
      <p:sp>
        <p:nvSpPr>
          <p:cNvPr id="20" name="Shape 18"/>
          <p:cNvSpPr/>
          <p:nvPr/>
        </p:nvSpPr>
        <p:spPr>
          <a:xfrm>
            <a:off x="7863840" y="3346704"/>
            <a:ext cx="411480" cy="320040"/>
          </a:xfrm>
          <a:prstGeom prst="roundRect">
            <a:avLst>
              <a:gd name="adj" fmla="val 14286"/>
            </a:avLst>
          </a:prstGeom>
          <a:solidFill>
            <a:srgbClr val="43A047"/>
          </a:solidFill>
          <a:ln w="12700">
            <a:solidFill>
              <a:srgbClr val="43A047"/>
            </a:solidFill>
            <a:prstDash val="solid"/>
          </a:ln>
        </p:spPr>
      </p:sp>
      <p:sp>
        <p:nvSpPr>
          <p:cNvPr id="21" name="Text 19"/>
          <p:cNvSpPr/>
          <p:nvPr/>
        </p:nvSpPr>
        <p:spPr>
          <a:xfrm>
            <a:off x="7863840" y="3355848"/>
            <a:ext cx="411480"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228600" y="3895344"/>
            <a:ext cx="7498080" cy="530352"/>
          </a:xfrm>
          <a:prstGeom prst="rect">
            <a:avLst/>
          </a:prstGeom>
          <a:solidFill>
            <a:srgbClr val="FFF3E0"/>
          </a:solidFill>
          <a:ln w="12700">
            <a:solidFill>
              <a:srgbClr val="EF6C00"/>
            </a:solidFill>
            <a:prstDash val="solid"/>
          </a:ln>
        </p:spPr>
      </p:sp>
      <p:sp>
        <p:nvSpPr>
          <p:cNvPr id="23" name="Text 21"/>
          <p:cNvSpPr/>
          <p:nvPr/>
        </p:nvSpPr>
        <p:spPr>
          <a:xfrm>
            <a:off x="411480" y="3941064"/>
            <a:ext cx="6675120" cy="438912"/>
          </a:xfrm>
          <a:prstGeom prst="rect">
            <a:avLst/>
          </a:prstGeom>
          <a:noFill/>
          <a:ln/>
        </p:spPr>
        <p:txBody>
          <a:bodyPr wrap="square" lIns="0" tIns="0" rIns="0" bIns="0" rtlCol="0" anchor="ctr"/>
          <a:lstStyle/>
          <a:p>
            <a:pPr algn="l" indent="0" marL="0">
              <a:buNone/>
            </a:pPr>
            <a:r>
              <a:rPr lang="en-US" sz="1800" i="1" dirty="0">
                <a:solidFill>
                  <a:srgbClr val="1A1A2E"/>
                </a:solidFill>
                <a:latin typeface="Calibri" pitchFamily="34" charset="0"/>
                <a:ea typeface="Calibri" pitchFamily="34" charset="-122"/>
                <a:cs typeface="Calibri" pitchFamily="34" charset="-120"/>
              </a:rPr>
              <a:t>« Un beau matin d'été. »</a:t>
            </a:r>
            <a:endParaRPr lang="en-US" sz="1800" dirty="0"/>
          </a:p>
        </p:txBody>
      </p:sp>
      <p:sp>
        <p:nvSpPr>
          <p:cNvPr id="24" name="Shape 22"/>
          <p:cNvSpPr/>
          <p:nvPr/>
        </p:nvSpPr>
        <p:spPr>
          <a:xfrm>
            <a:off x="7863840" y="4005072"/>
            <a:ext cx="411480" cy="320040"/>
          </a:xfrm>
          <a:prstGeom prst="roundRect">
            <a:avLst>
              <a:gd name="adj" fmla="val 14286"/>
            </a:avLst>
          </a:prstGeom>
          <a:solidFill>
            <a:srgbClr val="E53935"/>
          </a:solidFill>
          <a:ln w="12700">
            <a:solidFill>
              <a:srgbClr val="E53935"/>
            </a:solidFill>
            <a:prstDash val="solid"/>
          </a:ln>
        </p:spPr>
      </p:sp>
      <p:sp>
        <p:nvSpPr>
          <p:cNvPr id="25" name="Text 23"/>
          <p:cNvSpPr/>
          <p:nvPr/>
        </p:nvSpPr>
        <p:spPr>
          <a:xfrm>
            <a:off x="7863840" y="4014216"/>
            <a:ext cx="411480"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228600" y="4590288"/>
            <a:ext cx="8686800" cy="34747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 Pour finir : construire ensemble une phrase correcte à partir de « Un beau matin d'été ».</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565C0"/>
          </a:solidFill>
          <a:ln w="12700">
            <a:solidFill>
              <a:srgbClr val="1565C0"/>
            </a:solidFill>
            <a:prstDash val="solid"/>
          </a:ln>
        </p:spPr>
      </p:sp>
      <p:sp>
        <p:nvSpPr>
          <p:cNvPr id="3" name="Text 1"/>
          <p:cNvSpPr/>
          <p:nvPr/>
        </p:nvSpPr>
        <p:spPr>
          <a:xfrm>
            <a:off x="228600" y="164592"/>
            <a:ext cx="8686800" cy="594360"/>
          </a:xfrm>
          <a:prstGeom prst="rect">
            <a:avLst/>
          </a:prstGeom>
          <a:noFill/>
          <a:ln/>
        </p:spPr>
        <p:txBody>
          <a:bodyPr wrap="square" lIns="0" tIns="0" rIns="0" bIns="0" rtlCol="0" anchor="ctr"/>
          <a:lstStyle/>
          <a:p>
            <a:pPr algn="l" indent="0" marL="0">
              <a:buNone/>
            </a:pPr>
            <a:r>
              <a:rPr lang="en-US" sz="2800" b="1" dirty="0">
                <a:solidFill>
                  <a:srgbClr val="1A1A2E"/>
                </a:solidFill>
                <a:latin typeface="Trebuchet MS" pitchFamily="34" charset="0"/>
                <a:ea typeface="Trebuchet MS" pitchFamily="34" charset="-122"/>
                <a:cs typeface="Trebuchet MS" pitchFamily="34" charset="-120"/>
              </a:rPr>
              <a:t>Où mettre la ponctuation ?</a:t>
            </a:r>
            <a:endParaRPr lang="en-US" sz="2800" dirty="0"/>
          </a:p>
        </p:txBody>
      </p:sp>
      <p:sp>
        <p:nvSpPr>
          <p:cNvPr id="4" name="Text 2"/>
          <p:cNvSpPr/>
          <p:nvPr/>
        </p:nvSpPr>
        <p:spPr>
          <a:xfrm>
            <a:off x="228600" y="749808"/>
            <a:ext cx="6400800" cy="292608"/>
          </a:xfrm>
          <a:prstGeom prst="rect">
            <a:avLst/>
          </a:prstGeom>
          <a:noFill/>
          <a:ln/>
        </p:spPr>
        <p:txBody>
          <a:bodyPr wrap="square" lIns="0" tIns="0" rIns="0" bIns="0" rtlCol="0" anchor="ctr"/>
          <a:lstStyle/>
          <a:p>
            <a:pPr algn="l" indent="0" marL="0">
              <a:buNone/>
            </a:pPr>
            <a:r>
              <a:rPr lang="en-US" sz="1300" i="1" dirty="0">
                <a:solidFill>
                  <a:srgbClr val="546E7A"/>
                </a:solidFill>
                <a:latin typeface="Calibri" pitchFamily="34" charset="0"/>
                <a:ea typeface="Calibri" pitchFamily="34" charset="-122"/>
                <a:cs typeface="Calibri" pitchFamily="34" charset="-120"/>
              </a:rPr>
              <a:t>S2 — La ponctuation au service du sens</a:t>
            </a:r>
            <a:endParaRPr lang="en-US" sz="1300" dirty="0"/>
          </a:p>
        </p:txBody>
      </p:sp>
      <p:sp>
        <p:nvSpPr>
          <p:cNvPr id="5" name="Shape 3"/>
          <p:cNvSpPr/>
          <p:nvPr/>
        </p:nvSpPr>
        <p:spPr>
          <a:xfrm>
            <a:off x="228600" y="1060704"/>
            <a:ext cx="8686800" cy="0"/>
          </a:xfrm>
          <a:prstGeom prst="line">
            <a:avLst/>
          </a:prstGeom>
          <a:noFill/>
          <a:ln w="12700">
            <a:solidFill>
              <a:srgbClr val="CFD8DC"/>
            </a:solidFill>
            <a:prstDash val="solid"/>
          </a:ln>
        </p:spPr>
      </p:sp>
      <p:sp>
        <p:nvSpPr>
          <p:cNvPr id="6" name="Shape 4"/>
          <p:cNvSpPr/>
          <p:nvPr/>
        </p:nvSpPr>
        <p:spPr>
          <a:xfrm>
            <a:off x="8412480" y="91440"/>
            <a:ext cx="594360" cy="594360"/>
          </a:xfrm>
          <a:prstGeom prst="ellipse">
            <a:avLst/>
          </a:prstGeom>
          <a:solidFill>
            <a:srgbClr val="F57F17"/>
          </a:solidFill>
          <a:ln w="12700">
            <a:solidFill>
              <a:srgbClr val="F57F17"/>
            </a:solidFill>
            <a:prstDash val="solid"/>
          </a:ln>
        </p:spPr>
      </p:sp>
      <p:sp>
        <p:nvSpPr>
          <p:cNvPr id="7" name="Text 5"/>
          <p:cNvSpPr/>
          <p:nvPr/>
        </p:nvSpPr>
        <p:spPr>
          <a:xfrm>
            <a:off x="8412480" y="128016"/>
            <a:ext cx="594360" cy="52120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S2</a:t>
            </a:r>
            <a:endParaRPr lang="en-US" sz="1800" dirty="0"/>
          </a:p>
        </p:txBody>
      </p:sp>
      <p:sp>
        <p:nvSpPr>
          <p:cNvPr id="8" name="Shape 6"/>
          <p:cNvSpPr/>
          <p:nvPr/>
        </p:nvSpPr>
        <p:spPr>
          <a:xfrm>
            <a:off x="228600" y="1170432"/>
            <a:ext cx="8686800" cy="594360"/>
          </a:xfrm>
          <a:prstGeom prst="rect">
            <a:avLst/>
          </a:prstGeom>
          <a:solidFill>
            <a:srgbClr val="E3F2FD"/>
          </a:solidFill>
          <a:ln w="25400">
            <a:solidFill>
              <a:srgbClr val="1565C0"/>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365760" y="1243584"/>
            <a:ext cx="8412480" cy="448056"/>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Lisez la phrase ci-dessous. Proposez oralement où mettre les signes de ponctuation. Plusieurs versions sont possibles !</a:t>
            </a:r>
            <a:endParaRPr lang="en-US" sz="1400" dirty="0"/>
          </a:p>
        </p:txBody>
      </p:sp>
      <p:sp>
        <p:nvSpPr>
          <p:cNvPr id="10" name="Shape 8"/>
          <p:cNvSpPr/>
          <p:nvPr/>
        </p:nvSpPr>
        <p:spPr>
          <a:xfrm>
            <a:off x="457200" y="1920240"/>
            <a:ext cx="8229600" cy="914400"/>
          </a:xfrm>
          <a:prstGeom prst="rect">
            <a:avLst/>
          </a:prstGeom>
          <a:solidFill>
            <a:srgbClr val="1A1A2E"/>
          </a:solidFill>
          <a:ln w="12700">
            <a:solidFill>
              <a:srgbClr val="1A1A2E"/>
            </a:solidFill>
            <a:prstDash val="solid"/>
          </a:ln>
        </p:spPr>
      </p:sp>
      <p:sp>
        <p:nvSpPr>
          <p:cNvPr id="11" name="Text 9"/>
          <p:cNvSpPr/>
          <p:nvPr/>
        </p:nvSpPr>
        <p:spPr>
          <a:xfrm>
            <a:off x="457200" y="1920240"/>
            <a:ext cx="8229600" cy="914400"/>
          </a:xfrm>
          <a:prstGeom prst="rect">
            <a:avLst/>
          </a:prstGeom>
          <a:noFill/>
          <a:ln/>
        </p:spPr>
        <p:txBody>
          <a:bodyPr wrap="square" rtlCol="0" anchor="ctr"/>
          <a:lstStyle/>
          <a:p>
            <a:pPr algn="ctr" indent="0" marL="0">
              <a:buNone/>
            </a:pPr>
            <a:r>
              <a:rPr lang="en-US" sz="2200" b="1" i="1" dirty="0">
                <a:solidFill>
                  <a:srgbClr val="FFFFFF"/>
                </a:solidFill>
                <a:latin typeface="Calibri" pitchFamily="34" charset="0"/>
                <a:ea typeface="Calibri" pitchFamily="34" charset="-122"/>
                <a:cs typeface="Calibri" pitchFamily="34" charset="-120"/>
              </a:rPr>
              <a:t>viens manger les enfants ont faim dit la maman</a:t>
            </a:r>
            <a:endParaRPr lang="en-US" sz="2200" dirty="0"/>
          </a:p>
        </p:txBody>
      </p:sp>
      <p:sp>
        <p:nvSpPr>
          <p:cNvPr id="12" name="Text 10"/>
          <p:cNvSpPr/>
          <p:nvPr/>
        </p:nvSpPr>
        <p:spPr>
          <a:xfrm>
            <a:off x="228600" y="3017520"/>
            <a:ext cx="8686800" cy="320040"/>
          </a:xfrm>
          <a:prstGeom prst="rect">
            <a:avLst/>
          </a:prstGeom>
          <a:noFill/>
          <a:ln/>
        </p:spPr>
        <p:txBody>
          <a:bodyPr wrap="square" rtlCol="0" anchor="ctr"/>
          <a:lstStyle/>
          <a:p>
            <a:pPr indent="0" marL="0">
              <a:buNone/>
            </a:pPr>
            <a:r>
              <a:rPr lang="en-US" sz="1400" b="1" dirty="0">
                <a:solidFill>
                  <a:srgbClr val="1565C0"/>
                </a:solidFill>
                <a:latin typeface="Calibri" pitchFamily="34" charset="0"/>
                <a:ea typeface="Calibri" pitchFamily="34" charset="-122"/>
                <a:cs typeface="Calibri" pitchFamily="34" charset="-120"/>
              </a:rPr>
              <a:t>Deux versions possibles :</a:t>
            </a:r>
            <a:endParaRPr lang="en-US" sz="1400" dirty="0"/>
          </a:p>
        </p:txBody>
      </p:sp>
      <p:sp>
        <p:nvSpPr>
          <p:cNvPr id="13" name="Shape 11"/>
          <p:cNvSpPr/>
          <p:nvPr/>
        </p:nvSpPr>
        <p:spPr>
          <a:xfrm>
            <a:off x="228600" y="3383280"/>
            <a:ext cx="4251960" cy="1005840"/>
          </a:xfrm>
          <a:prstGeom prst="rect">
            <a:avLst/>
          </a:prstGeom>
          <a:solidFill>
            <a:srgbClr val="E3F2FD"/>
          </a:solidFill>
          <a:ln w="25400">
            <a:solidFill>
              <a:srgbClr val="1565C0"/>
            </a:solidFill>
            <a:prstDash val="solid"/>
          </a:ln>
        </p:spPr>
      </p:sp>
      <p:sp>
        <p:nvSpPr>
          <p:cNvPr id="14" name="Text 12"/>
          <p:cNvSpPr/>
          <p:nvPr/>
        </p:nvSpPr>
        <p:spPr>
          <a:xfrm>
            <a:off x="320040" y="3401568"/>
            <a:ext cx="4023360" cy="274320"/>
          </a:xfrm>
          <a:prstGeom prst="rect">
            <a:avLst/>
          </a:prstGeom>
          <a:noFill/>
          <a:ln/>
        </p:spPr>
        <p:txBody>
          <a:bodyPr wrap="square" lIns="0" tIns="0" rIns="0" bIns="0"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Version A</a:t>
            </a:r>
            <a:endParaRPr lang="en-US" sz="1100" dirty="0"/>
          </a:p>
        </p:txBody>
      </p:sp>
      <p:sp>
        <p:nvSpPr>
          <p:cNvPr id="15" name="Text 13"/>
          <p:cNvSpPr/>
          <p:nvPr/>
        </p:nvSpPr>
        <p:spPr>
          <a:xfrm>
            <a:off x="320040" y="3675888"/>
            <a:ext cx="4023360" cy="658368"/>
          </a:xfrm>
          <a:prstGeom prst="rect">
            <a:avLst/>
          </a:prstGeom>
          <a:noFill/>
          <a:ln/>
        </p:spPr>
        <p:txBody>
          <a:bodyPr wrap="square" lIns="0" tIns="0" rIns="0" bIns="0" rtlCol="0" anchor="t"/>
          <a:lstStyle/>
          <a:p>
            <a:pPr indent="0" marL="0">
              <a:buNone/>
            </a:pPr>
            <a:r>
              <a:rPr lang="en-US" sz="1300" i="1" dirty="0">
                <a:solidFill>
                  <a:srgbClr val="1A1A2E"/>
                </a:solidFill>
                <a:latin typeface="Calibri" pitchFamily="34" charset="0"/>
                <a:ea typeface="Calibri" pitchFamily="34" charset="-122"/>
                <a:cs typeface="Calibri" pitchFamily="34" charset="-120"/>
              </a:rPr>
              <a:t>« Viens manger, les enfants ! On a faim, dit la maman. »</a:t>
            </a:r>
            <a:endParaRPr lang="en-US" sz="1300" dirty="0"/>
          </a:p>
        </p:txBody>
      </p:sp>
      <p:sp>
        <p:nvSpPr>
          <p:cNvPr id="16" name="Shape 14"/>
          <p:cNvSpPr/>
          <p:nvPr/>
        </p:nvSpPr>
        <p:spPr>
          <a:xfrm>
            <a:off x="4709160" y="3383280"/>
            <a:ext cx="4251960" cy="1005840"/>
          </a:xfrm>
          <a:prstGeom prst="rect">
            <a:avLst/>
          </a:prstGeom>
          <a:solidFill>
            <a:srgbClr val="FFF3E0"/>
          </a:solidFill>
          <a:ln w="25400">
            <a:solidFill>
              <a:srgbClr val="EF6C00"/>
            </a:solidFill>
            <a:prstDash val="solid"/>
          </a:ln>
        </p:spPr>
      </p:sp>
      <p:sp>
        <p:nvSpPr>
          <p:cNvPr id="17" name="Text 15"/>
          <p:cNvSpPr/>
          <p:nvPr/>
        </p:nvSpPr>
        <p:spPr>
          <a:xfrm>
            <a:off x="4800600" y="3401568"/>
            <a:ext cx="4023360" cy="274320"/>
          </a:xfrm>
          <a:prstGeom prst="rect">
            <a:avLst/>
          </a:prstGeom>
          <a:noFill/>
          <a:ln/>
        </p:spPr>
        <p:txBody>
          <a:bodyPr wrap="square" lIns="0" tIns="0" rIns="0" bIns="0" rtlCol="0" anchor="ctr"/>
          <a:lstStyle/>
          <a:p>
            <a:pPr indent="0" marL="0">
              <a:buNone/>
            </a:pPr>
            <a:r>
              <a:rPr lang="en-US" sz="1100" b="1" dirty="0">
                <a:solidFill>
                  <a:srgbClr val="EF6C00"/>
                </a:solidFill>
                <a:latin typeface="Calibri" pitchFamily="34" charset="0"/>
                <a:ea typeface="Calibri" pitchFamily="34" charset="-122"/>
                <a:cs typeface="Calibri" pitchFamily="34" charset="-120"/>
              </a:rPr>
              <a:t>Version B</a:t>
            </a:r>
            <a:endParaRPr lang="en-US" sz="1100" dirty="0"/>
          </a:p>
        </p:txBody>
      </p:sp>
      <p:sp>
        <p:nvSpPr>
          <p:cNvPr id="18" name="Text 16"/>
          <p:cNvSpPr/>
          <p:nvPr/>
        </p:nvSpPr>
        <p:spPr>
          <a:xfrm>
            <a:off x="4800600" y="3675888"/>
            <a:ext cx="4023360" cy="658368"/>
          </a:xfrm>
          <a:prstGeom prst="rect">
            <a:avLst/>
          </a:prstGeom>
          <a:noFill/>
          <a:ln/>
        </p:spPr>
        <p:txBody>
          <a:bodyPr wrap="square" lIns="0" tIns="0" rIns="0" bIns="0" rtlCol="0" anchor="t"/>
          <a:lstStyle/>
          <a:p>
            <a:pPr indent="0" marL="0">
              <a:buNone/>
            </a:pPr>
            <a:r>
              <a:rPr lang="en-US" sz="1300" i="1" dirty="0">
                <a:solidFill>
                  <a:srgbClr val="1A1A2E"/>
                </a:solidFill>
                <a:latin typeface="Calibri" pitchFamily="34" charset="0"/>
                <a:ea typeface="Calibri" pitchFamily="34" charset="-122"/>
                <a:cs typeface="Calibri" pitchFamily="34" charset="-120"/>
              </a:rPr>
              <a:t>« Viens manger les enfants ! On a faim, dit la maman. »  😱</a:t>
            </a:r>
            <a:endParaRPr lang="en-US" sz="1300" dirty="0"/>
          </a:p>
        </p:txBody>
      </p:sp>
      <p:sp>
        <p:nvSpPr>
          <p:cNvPr id="19" name="Text 17"/>
          <p:cNvSpPr/>
          <p:nvPr/>
        </p:nvSpPr>
        <p:spPr>
          <a:xfrm>
            <a:off x="228600" y="4526280"/>
            <a:ext cx="8686800" cy="34747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 Que change la virgule ? Quel est l'effet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E7D32"/>
          </a:solidFill>
          <a:ln w="12700">
            <a:solidFill>
              <a:srgbClr val="2E7D32"/>
            </a:solidFill>
            <a:prstDash val="solid"/>
          </a:ln>
        </p:spPr>
      </p:sp>
      <p:sp>
        <p:nvSpPr>
          <p:cNvPr id="3" name="Text 1"/>
          <p:cNvSpPr/>
          <p:nvPr/>
        </p:nvSpPr>
        <p:spPr>
          <a:xfrm>
            <a:off x="228600" y="164592"/>
            <a:ext cx="8686800" cy="594360"/>
          </a:xfrm>
          <a:prstGeom prst="rect">
            <a:avLst/>
          </a:prstGeom>
          <a:noFill/>
          <a:ln/>
        </p:spPr>
        <p:txBody>
          <a:bodyPr wrap="square" lIns="0" tIns="0" rIns="0" bIns="0" rtlCol="0" anchor="ctr"/>
          <a:lstStyle/>
          <a:p>
            <a:pPr algn="l" indent="0" marL="0">
              <a:buNone/>
            </a:pPr>
            <a:r>
              <a:rPr lang="en-US" sz="2800" b="1" dirty="0">
                <a:solidFill>
                  <a:srgbClr val="1A1A2E"/>
                </a:solidFill>
                <a:latin typeface="Trebuchet MS" pitchFamily="34" charset="0"/>
                <a:ea typeface="Trebuchet MS" pitchFamily="34" charset="-122"/>
                <a:cs typeface="Trebuchet MS" pitchFamily="34" charset="-120"/>
              </a:rPr>
              <a:t>Formons 2 paragraphes ensemble</a:t>
            </a:r>
            <a:endParaRPr lang="en-US" sz="2800" dirty="0"/>
          </a:p>
        </p:txBody>
      </p:sp>
      <p:sp>
        <p:nvSpPr>
          <p:cNvPr id="4" name="Text 2"/>
          <p:cNvSpPr/>
          <p:nvPr/>
        </p:nvSpPr>
        <p:spPr>
          <a:xfrm>
            <a:off x="228600" y="749808"/>
            <a:ext cx="6400800" cy="292608"/>
          </a:xfrm>
          <a:prstGeom prst="rect">
            <a:avLst/>
          </a:prstGeom>
          <a:noFill/>
          <a:ln/>
        </p:spPr>
        <p:txBody>
          <a:bodyPr wrap="square" lIns="0" tIns="0" rIns="0" bIns="0" rtlCol="0" anchor="ctr"/>
          <a:lstStyle/>
          <a:p>
            <a:pPr algn="l" indent="0" marL="0">
              <a:buNone/>
            </a:pPr>
            <a:r>
              <a:rPr lang="en-US" sz="1300" i="1" dirty="0">
                <a:solidFill>
                  <a:srgbClr val="546E7A"/>
                </a:solidFill>
                <a:latin typeface="Calibri" pitchFamily="34" charset="0"/>
                <a:ea typeface="Calibri" pitchFamily="34" charset="-122"/>
                <a:cs typeface="Calibri" pitchFamily="34" charset="-120"/>
              </a:rPr>
              <a:t>S3 — Organiser un paragraphe</a:t>
            </a:r>
            <a:endParaRPr lang="en-US" sz="1300" dirty="0"/>
          </a:p>
        </p:txBody>
      </p:sp>
      <p:sp>
        <p:nvSpPr>
          <p:cNvPr id="5" name="Shape 3"/>
          <p:cNvSpPr/>
          <p:nvPr/>
        </p:nvSpPr>
        <p:spPr>
          <a:xfrm>
            <a:off x="228600" y="1060704"/>
            <a:ext cx="8686800" cy="0"/>
          </a:xfrm>
          <a:prstGeom prst="line">
            <a:avLst/>
          </a:prstGeom>
          <a:noFill/>
          <a:ln w="12700">
            <a:solidFill>
              <a:srgbClr val="CFD8DC"/>
            </a:solidFill>
            <a:prstDash val="solid"/>
          </a:ln>
        </p:spPr>
      </p:sp>
      <p:sp>
        <p:nvSpPr>
          <p:cNvPr id="6" name="Shape 4"/>
          <p:cNvSpPr/>
          <p:nvPr/>
        </p:nvSpPr>
        <p:spPr>
          <a:xfrm>
            <a:off x="8412480" y="91440"/>
            <a:ext cx="594360" cy="594360"/>
          </a:xfrm>
          <a:prstGeom prst="ellipse">
            <a:avLst/>
          </a:prstGeom>
          <a:solidFill>
            <a:srgbClr val="F57F17"/>
          </a:solidFill>
          <a:ln w="12700">
            <a:solidFill>
              <a:srgbClr val="F57F17"/>
            </a:solidFill>
            <a:prstDash val="solid"/>
          </a:ln>
        </p:spPr>
      </p:sp>
      <p:sp>
        <p:nvSpPr>
          <p:cNvPr id="7" name="Text 5"/>
          <p:cNvSpPr/>
          <p:nvPr/>
        </p:nvSpPr>
        <p:spPr>
          <a:xfrm>
            <a:off x="8412480" y="128016"/>
            <a:ext cx="594360" cy="52120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S3</a:t>
            </a:r>
            <a:endParaRPr lang="en-US" sz="1800" dirty="0"/>
          </a:p>
        </p:txBody>
      </p:sp>
      <p:sp>
        <p:nvSpPr>
          <p:cNvPr id="8" name="Shape 6"/>
          <p:cNvSpPr/>
          <p:nvPr/>
        </p:nvSpPr>
        <p:spPr>
          <a:xfrm>
            <a:off x="228600" y="1170432"/>
            <a:ext cx="8686800" cy="594360"/>
          </a:xfrm>
          <a:prstGeom prst="rect">
            <a:avLst/>
          </a:prstGeom>
          <a:solidFill>
            <a:srgbClr val="E8F5E9"/>
          </a:solidFill>
          <a:ln w="25400">
            <a:solidFill>
              <a:srgbClr val="2E7D32"/>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365760" y="1243584"/>
            <a:ext cx="8412480" cy="448056"/>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Ces 6 phrases parlent de 2 sujets différents. Regroupez-les oralement en 2 paragraphes et expliquez pourquoi.</a:t>
            </a:r>
            <a:endParaRPr lang="en-US" sz="1400" dirty="0"/>
          </a:p>
        </p:txBody>
      </p:sp>
      <p:sp>
        <p:nvSpPr>
          <p:cNvPr id="10" name="Shape 8"/>
          <p:cNvSpPr/>
          <p:nvPr/>
        </p:nvSpPr>
        <p:spPr>
          <a:xfrm>
            <a:off x="228600" y="1810512"/>
            <a:ext cx="4251960" cy="274320"/>
          </a:xfrm>
          <a:prstGeom prst="rect">
            <a:avLst/>
          </a:prstGeom>
          <a:solidFill>
            <a:srgbClr val="2E7D32"/>
          </a:solidFill>
          <a:ln w="12700">
            <a:solidFill>
              <a:srgbClr val="2E7D32"/>
            </a:solidFill>
            <a:prstDash val="solid"/>
          </a:ln>
        </p:spPr>
      </p:sp>
      <p:sp>
        <p:nvSpPr>
          <p:cNvPr id="11" name="Text 9"/>
          <p:cNvSpPr/>
          <p:nvPr/>
        </p:nvSpPr>
        <p:spPr>
          <a:xfrm>
            <a:off x="320040" y="1828800"/>
            <a:ext cx="406908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 Le merle</a:t>
            </a:r>
            <a:endParaRPr lang="en-US" sz="1100" dirty="0"/>
          </a:p>
        </p:txBody>
      </p:sp>
      <p:sp>
        <p:nvSpPr>
          <p:cNvPr id="12" name="Shape 10"/>
          <p:cNvSpPr/>
          <p:nvPr/>
        </p:nvSpPr>
        <p:spPr>
          <a:xfrm>
            <a:off x="4709160" y="1810512"/>
            <a:ext cx="4251960" cy="274320"/>
          </a:xfrm>
          <a:prstGeom prst="rect">
            <a:avLst/>
          </a:prstGeom>
          <a:solidFill>
            <a:srgbClr val="2E7D32"/>
          </a:solidFill>
          <a:ln w="12700">
            <a:solidFill>
              <a:srgbClr val="2E7D32"/>
            </a:solidFill>
            <a:prstDash val="solid"/>
          </a:ln>
        </p:spPr>
      </p:sp>
      <p:sp>
        <p:nvSpPr>
          <p:cNvPr id="13" name="Text 11"/>
          <p:cNvSpPr/>
          <p:nvPr/>
        </p:nvSpPr>
        <p:spPr>
          <a:xfrm>
            <a:off x="4800600" y="1828800"/>
            <a:ext cx="406908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 La pie</a:t>
            </a:r>
            <a:endParaRPr lang="en-US" sz="1100" dirty="0"/>
          </a:p>
        </p:txBody>
      </p:sp>
      <p:sp>
        <p:nvSpPr>
          <p:cNvPr id="14" name="Shape 12"/>
          <p:cNvSpPr/>
          <p:nvPr/>
        </p:nvSpPr>
        <p:spPr>
          <a:xfrm>
            <a:off x="228600" y="2121408"/>
            <a:ext cx="4251960" cy="402336"/>
          </a:xfrm>
          <a:prstGeom prst="rect">
            <a:avLst/>
          </a:prstGeom>
          <a:solidFill>
            <a:srgbClr val="E8F5E9"/>
          </a:solidFill>
          <a:ln w="12700">
            <a:solidFill>
              <a:srgbClr val="2E7D32"/>
            </a:solidFill>
            <a:prstDash val="solid"/>
          </a:ln>
        </p:spPr>
      </p:sp>
      <p:sp>
        <p:nvSpPr>
          <p:cNvPr id="15" name="Text 13"/>
          <p:cNvSpPr/>
          <p:nvPr/>
        </p:nvSpPr>
        <p:spPr>
          <a:xfrm>
            <a:off x="320040" y="2157984"/>
            <a:ext cx="4069080" cy="329184"/>
          </a:xfrm>
          <a:prstGeom prst="rect">
            <a:avLst/>
          </a:prstGeom>
          <a:noFill/>
          <a:ln/>
        </p:spPr>
        <p:txBody>
          <a:bodyPr wrap="square" lIns="0" tIns="0" rIns="0" bIns="0" rtlCol="0" anchor="ctr"/>
          <a:lstStyle/>
          <a:p>
            <a:pPr indent="0" marL="0">
              <a:buNone/>
            </a:pPr>
            <a:r>
              <a:rPr lang="en-US" sz="1250" i="1" dirty="0">
                <a:solidFill>
                  <a:srgbClr val="1A1A2E"/>
                </a:solidFill>
                <a:latin typeface="Calibri" pitchFamily="34" charset="0"/>
                <a:ea typeface="Calibri" pitchFamily="34" charset="-122"/>
                <a:cs typeface="Calibri" pitchFamily="34" charset="-120"/>
              </a:rPr>
              <a:t>Le merle est un oiseau commun en France.</a:t>
            </a:r>
            <a:endParaRPr lang="en-US" sz="1250" dirty="0"/>
          </a:p>
        </p:txBody>
      </p:sp>
      <p:sp>
        <p:nvSpPr>
          <p:cNvPr id="16" name="Shape 14"/>
          <p:cNvSpPr/>
          <p:nvPr/>
        </p:nvSpPr>
        <p:spPr>
          <a:xfrm>
            <a:off x="228600" y="2596896"/>
            <a:ext cx="4251960" cy="402336"/>
          </a:xfrm>
          <a:prstGeom prst="rect">
            <a:avLst/>
          </a:prstGeom>
          <a:solidFill>
            <a:srgbClr val="E8F5E9"/>
          </a:solidFill>
          <a:ln w="12700">
            <a:solidFill>
              <a:srgbClr val="2E7D32"/>
            </a:solidFill>
            <a:prstDash val="solid"/>
          </a:ln>
        </p:spPr>
      </p:sp>
      <p:sp>
        <p:nvSpPr>
          <p:cNvPr id="17" name="Text 15"/>
          <p:cNvSpPr/>
          <p:nvPr/>
        </p:nvSpPr>
        <p:spPr>
          <a:xfrm>
            <a:off x="320040" y="2633472"/>
            <a:ext cx="4069080" cy="329184"/>
          </a:xfrm>
          <a:prstGeom prst="rect">
            <a:avLst/>
          </a:prstGeom>
          <a:noFill/>
          <a:ln/>
        </p:spPr>
        <p:txBody>
          <a:bodyPr wrap="square" lIns="0" tIns="0" rIns="0" bIns="0" rtlCol="0" anchor="ctr"/>
          <a:lstStyle/>
          <a:p>
            <a:pPr indent="0" marL="0">
              <a:buNone/>
            </a:pPr>
            <a:r>
              <a:rPr lang="en-US" sz="1250" i="1" dirty="0">
                <a:solidFill>
                  <a:srgbClr val="1A1A2E"/>
                </a:solidFill>
                <a:latin typeface="Calibri" pitchFamily="34" charset="0"/>
                <a:ea typeface="Calibri" pitchFamily="34" charset="-122"/>
                <a:cs typeface="Calibri" pitchFamily="34" charset="-120"/>
              </a:rPr>
              <a:t>Son plumage est entièrement noir.</a:t>
            </a:r>
            <a:endParaRPr lang="en-US" sz="1250" dirty="0"/>
          </a:p>
        </p:txBody>
      </p:sp>
      <p:sp>
        <p:nvSpPr>
          <p:cNvPr id="18" name="Shape 16"/>
          <p:cNvSpPr/>
          <p:nvPr/>
        </p:nvSpPr>
        <p:spPr>
          <a:xfrm>
            <a:off x="228600" y="3072384"/>
            <a:ext cx="4251960" cy="402336"/>
          </a:xfrm>
          <a:prstGeom prst="rect">
            <a:avLst/>
          </a:prstGeom>
          <a:solidFill>
            <a:srgbClr val="E8F5E9"/>
          </a:solidFill>
          <a:ln w="12700">
            <a:solidFill>
              <a:srgbClr val="2E7D32"/>
            </a:solidFill>
            <a:prstDash val="solid"/>
          </a:ln>
        </p:spPr>
      </p:sp>
      <p:sp>
        <p:nvSpPr>
          <p:cNvPr id="19" name="Text 17"/>
          <p:cNvSpPr/>
          <p:nvPr/>
        </p:nvSpPr>
        <p:spPr>
          <a:xfrm>
            <a:off x="320040" y="3108960"/>
            <a:ext cx="4069080" cy="329184"/>
          </a:xfrm>
          <a:prstGeom prst="rect">
            <a:avLst/>
          </a:prstGeom>
          <a:noFill/>
          <a:ln/>
        </p:spPr>
        <p:txBody>
          <a:bodyPr wrap="square" lIns="0" tIns="0" rIns="0" bIns="0" rtlCol="0" anchor="ctr"/>
          <a:lstStyle/>
          <a:p>
            <a:pPr indent="0" marL="0">
              <a:buNone/>
            </a:pPr>
            <a:r>
              <a:rPr lang="en-US" sz="1250" i="1" dirty="0">
                <a:solidFill>
                  <a:srgbClr val="1A1A2E"/>
                </a:solidFill>
                <a:latin typeface="Calibri" pitchFamily="34" charset="0"/>
                <a:ea typeface="Calibri" pitchFamily="34" charset="-122"/>
                <a:cs typeface="Calibri" pitchFamily="34" charset="-120"/>
              </a:rPr>
              <a:t>Il chante dès le lever du soleil.</a:t>
            </a:r>
            <a:endParaRPr lang="en-US" sz="1250" dirty="0"/>
          </a:p>
        </p:txBody>
      </p:sp>
      <p:sp>
        <p:nvSpPr>
          <p:cNvPr id="20" name="Shape 18"/>
          <p:cNvSpPr/>
          <p:nvPr/>
        </p:nvSpPr>
        <p:spPr>
          <a:xfrm>
            <a:off x="4709160" y="2121408"/>
            <a:ext cx="4251960" cy="402336"/>
          </a:xfrm>
          <a:prstGeom prst="rect">
            <a:avLst/>
          </a:prstGeom>
          <a:solidFill>
            <a:srgbClr val="E3F2FD"/>
          </a:solidFill>
          <a:ln w="12700">
            <a:solidFill>
              <a:srgbClr val="1565C0"/>
            </a:solidFill>
            <a:prstDash val="solid"/>
          </a:ln>
        </p:spPr>
      </p:sp>
      <p:sp>
        <p:nvSpPr>
          <p:cNvPr id="21" name="Text 19"/>
          <p:cNvSpPr/>
          <p:nvPr/>
        </p:nvSpPr>
        <p:spPr>
          <a:xfrm>
            <a:off x="4800600" y="2157984"/>
            <a:ext cx="4069080" cy="329184"/>
          </a:xfrm>
          <a:prstGeom prst="rect">
            <a:avLst/>
          </a:prstGeom>
          <a:noFill/>
          <a:ln/>
        </p:spPr>
        <p:txBody>
          <a:bodyPr wrap="square" lIns="0" tIns="0" rIns="0" bIns="0" rtlCol="0" anchor="ctr"/>
          <a:lstStyle/>
          <a:p>
            <a:pPr indent="0" marL="0">
              <a:buNone/>
            </a:pPr>
            <a:r>
              <a:rPr lang="en-US" sz="1250" i="1" dirty="0">
                <a:solidFill>
                  <a:srgbClr val="1A1A2E"/>
                </a:solidFill>
                <a:latin typeface="Calibri" pitchFamily="34" charset="0"/>
                <a:ea typeface="Calibri" pitchFamily="34" charset="-122"/>
                <a:cs typeface="Calibri" pitchFamily="34" charset="-120"/>
              </a:rPr>
              <a:t>Il mange des graines et des insectes.</a:t>
            </a:r>
            <a:endParaRPr lang="en-US" sz="1250" dirty="0"/>
          </a:p>
        </p:txBody>
      </p:sp>
      <p:sp>
        <p:nvSpPr>
          <p:cNvPr id="22" name="Shape 20"/>
          <p:cNvSpPr/>
          <p:nvPr/>
        </p:nvSpPr>
        <p:spPr>
          <a:xfrm>
            <a:off x="4709160" y="2596896"/>
            <a:ext cx="4251960" cy="402336"/>
          </a:xfrm>
          <a:prstGeom prst="rect">
            <a:avLst/>
          </a:prstGeom>
          <a:solidFill>
            <a:srgbClr val="E3F2FD"/>
          </a:solidFill>
          <a:ln w="12700">
            <a:solidFill>
              <a:srgbClr val="1565C0"/>
            </a:solidFill>
            <a:prstDash val="solid"/>
          </a:ln>
        </p:spPr>
      </p:sp>
      <p:sp>
        <p:nvSpPr>
          <p:cNvPr id="23" name="Text 21"/>
          <p:cNvSpPr/>
          <p:nvPr/>
        </p:nvSpPr>
        <p:spPr>
          <a:xfrm>
            <a:off x="4800600" y="2633472"/>
            <a:ext cx="4069080" cy="329184"/>
          </a:xfrm>
          <a:prstGeom prst="rect">
            <a:avLst/>
          </a:prstGeom>
          <a:noFill/>
          <a:ln/>
        </p:spPr>
        <p:txBody>
          <a:bodyPr wrap="square" lIns="0" tIns="0" rIns="0" bIns="0" rtlCol="0" anchor="ctr"/>
          <a:lstStyle/>
          <a:p>
            <a:pPr indent="0" marL="0">
              <a:buNone/>
            </a:pPr>
            <a:r>
              <a:rPr lang="en-US" sz="1250" i="1" dirty="0">
                <a:solidFill>
                  <a:srgbClr val="1A1A2E"/>
                </a:solidFill>
                <a:latin typeface="Calibri" pitchFamily="34" charset="0"/>
                <a:ea typeface="Calibri" pitchFamily="34" charset="-122"/>
                <a:cs typeface="Calibri" pitchFamily="34" charset="-120"/>
              </a:rPr>
              <a:t>La pie reconnaît son reflet dans un miroir.</a:t>
            </a:r>
            <a:endParaRPr lang="en-US" sz="1250" dirty="0"/>
          </a:p>
        </p:txBody>
      </p:sp>
      <p:sp>
        <p:nvSpPr>
          <p:cNvPr id="24" name="Shape 22"/>
          <p:cNvSpPr/>
          <p:nvPr/>
        </p:nvSpPr>
        <p:spPr>
          <a:xfrm>
            <a:off x="4709160" y="3072384"/>
            <a:ext cx="4251960" cy="402336"/>
          </a:xfrm>
          <a:prstGeom prst="rect">
            <a:avLst/>
          </a:prstGeom>
          <a:solidFill>
            <a:srgbClr val="E3F2FD"/>
          </a:solidFill>
          <a:ln w="12700">
            <a:solidFill>
              <a:srgbClr val="1565C0"/>
            </a:solidFill>
            <a:prstDash val="solid"/>
          </a:ln>
        </p:spPr>
      </p:sp>
      <p:sp>
        <p:nvSpPr>
          <p:cNvPr id="25" name="Text 23"/>
          <p:cNvSpPr/>
          <p:nvPr/>
        </p:nvSpPr>
        <p:spPr>
          <a:xfrm>
            <a:off x="4800600" y="3108960"/>
            <a:ext cx="4069080" cy="329184"/>
          </a:xfrm>
          <a:prstGeom prst="rect">
            <a:avLst/>
          </a:prstGeom>
          <a:noFill/>
          <a:ln/>
        </p:spPr>
        <p:txBody>
          <a:bodyPr wrap="square" lIns="0" tIns="0" rIns="0" bIns="0" rtlCol="0" anchor="ctr"/>
          <a:lstStyle/>
          <a:p>
            <a:pPr indent="0" marL="0">
              <a:buNone/>
            </a:pPr>
            <a:r>
              <a:rPr lang="en-US" sz="1250" i="1" dirty="0">
                <a:solidFill>
                  <a:srgbClr val="1A1A2E"/>
                </a:solidFill>
                <a:latin typeface="Calibri" pitchFamily="34" charset="0"/>
                <a:ea typeface="Calibri" pitchFamily="34" charset="-122"/>
                <a:cs typeface="Calibri" pitchFamily="34" charset="-120"/>
              </a:rPr>
              <a:t>C'est l'un des animaux les plus intelligents.</a:t>
            </a:r>
            <a:endParaRPr lang="en-US" sz="1250" dirty="0"/>
          </a:p>
        </p:txBody>
      </p:sp>
      <p:sp>
        <p:nvSpPr>
          <p:cNvPr id="26" name="Text 24"/>
          <p:cNvSpPr/>
          <p:nvPr/>
        </p:nvSpPr>
        <p:spPr>
          <a:xfrm>
            <a:off x="228600" y="4590288"/>
            <a:ext cx="8686800" cy="34747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 Aide : cette phrase parle de quel animal ? Elle va donc dans quel paragraphe ?</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565C0"/>
          </a:solidFill>
          <a:ln w="12700">
            <a:solidFill>
              <a:srgbClr val="1565C0"/>
            </a:solidFill>
            <a:prstDash val="solid"/>
          </a:ln>
        </p:spPr>
      </p:sp>
      <p:sp>
        <p:nvSpPr>
          <p:cNvPr id="3" name="Text 1"/>
          <p:cNvSpPr/>
          <p:nvPr/>
        </p:nvSpPr>
        <p:spPr>
          <a:xfrm>
            <a:off x="228600" y="164592"/>
            <a:ext cx="8686800" cy="594360"/>
          </a:xfrm>
          <a:prstGeom prst="rect">
            <a:avLst/>
          </a:prstGeom>
          <a:noFill/>
          <a:ln/>
        </p:spPr>
        <p:txBody>
          <a:bodyPr wrap="square" lIns="0" tIns="0" rIns="0" bIns="0" rtlCol="0" anchor="ctr"/>
          <a:lstStyle/>
          <a:p>
            <a:pPr algn="l" indent="0" marL="0">
              <a:buNone/>
            </a:pPr>
            <a:r>
              <a:rPr lang="en-US" sz="2800" b="1" dirty="0">
                <a:solidFill>
                  <a:srgbClr val="1A1A2E"/>
                </a:solidFill>
                <a:latin typeface="Trebuchet MS" pitchFamily="34" charset="0"/>
                <a:ea typeface="Trebuchet MS" pitchFamily="34" charset="-122"/>
                <a:cs typeface="Trebuchet MS" pitchFamily="34" charset="-120"/>
              </a:rPr>
              <a:t>Ajouter des connecteurs à l'oral</a:t>
            </a:r>
            <a:endParaRPr lang="en-US" sz="2800" dirty="0"/>
          </a:p>
        </p:txBody>
      </p:sp>
      <p:sp>
        <p:nvSpPr>
          <p:cNvPr id="4" name="Text 2"/>
          <p:cNvSpPr/>
          <p:nvPr/>
        </p:nvSpPr>
        <p:spPr>
          <a:xfrm>
            <a:off x="228600" y="749808"/>
            <a:ext cx="6400800" cy="292608"/>
          </a:xfrm>
          <a:prstGeom prst="rect">
            <a:avLst/>
          </a:prstGeom>
          <a:noFill/>
          <a:ln/>
        </p:spPr>
        <p:txBody>
          <a:bodyPr wrap="square" lIns="0" tIns="0" rIns="0" bIns="0" rtlCol="0" anchor="ctr"/>
          <a:lstStyle/>
          <a:p>
            <a:pPr algn="l" indent="0" marL="0">
              <a:buNone/>
            </a:pPr>
            <a:r>
              <a:rPr lang="en-US" sz="1300" i="1" dirty="0">
                <a:solidFill>
                  <a:srgbClr val="546E7A"/>
                </a:solidFill>
                <a:latin typeface="Calibri" pitchFamily="34" charset="0"/>
                <a:ea typeface="Calibri" pitchFamily="34" charset="-122"/>
                <a:cs typeface="Calibri" pitchFamily="34" charset="-120"/>
              </a:rPr>
              <a:t>S4 — Les connecteurs pour enchaîner</a:t>
            </a:r>
            <a:endParaRPr lang="en-US" sz="1300" dirty="0"/>
          </a:p>
        </p:txBody>
      </p:sp>
      <p:sp>
        <p:nvSpPr>
          <p:cNvPr id="5" name="Shape 3"/>
          <p:cNvSpPr/>
          <p:nvPr/>
        </p:nvSpPr>
        <p:spPr>
          <a:xfrm>
            <a:off x="228600" y="1060704"/>
            <a:ext cx="8686800" cy="0"/>
          </a:xfrm>
          <a:prstGeom prst="line">
            <a:avLst/>
          </a:prstGeom>
          <a:noFill/>
          <a:ln w="12700">
            <a:solidFill>
              <a:srgbClr val="CFD8DC"/>
            </a:solidFill>
            <a:prstDash val="solid"/>
          </a:ln>
        </p:spPr>
      </p:sp>
      <p:sp>
        <p:nvSpPr>
          <p:cNvPr id="6" name="Shape 4"/>
          <p:cNvSpPr/>
          <p:nvPr/>
        </p:nvSpPr>
        <p:spPr>
          <a:xfrm>
            <a:off x="8412480" y="91440"/>
            <a:ext cx="594360" cy="594360"/>
          </a:xfrm>
          <a:prstGeom prst="ellipse">
            <a:avLst/>
          </a:prstGeom>
          <a:solidFill>
            <a:srgbClr val="F57F17"/>
          </a:solidFill>
          <a:ln w="12700">
            <a:solidFill>
              <a:srgbClr val="F57F17"/>
            </a:solidFill>
            <a:prstDash val="solid"/>
          </a:ln>
        </p:spPr>
      </p:sp>
      <p:sp>
        <p:nvSpPr>
          <p:cNvPr id="7" name="Text 5"/>
          <p:cNvSpPr/>
          <p:nvPr/>
        </p:nvSpPr>
        <p:spPr>
          <a:xfrm>
            <a:off x="8412480" y="128016"/>
            <a:ext cx="594360" cy="52120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S4</a:t>
            </a:r>
            <a:endParaRPr lang="en-US" sz="1800" dirty="0"/>
          </a:p>
        </p:txBody>
      </p:sp>
      <p:sp>
        <p:nvSpPr>
          <p:cNvPr id="8" name="Shape 6"/>
          <p:cNvSpPr/>
          <p:nvPr/>
        </p:nvSpPr>
        <p:spPr>
          <a:xfrm>
            <a:off x="228600" y="1170432"/>
            <a:ext cx="8686800" cy="594360"/>
          </a:xfrm>
          <a:prstGeom prst="rect">
            <a:avLst/>
          </a:prstGeom>
          <a:solidFill>
            <a:srgbClr val="E3F2FD"/>
          </a:solidFill>
          <a:ln w="25400">
            <a:solidFill>
              <a:srgbClr val="1565C0"/>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365760" y="1243584"/>
            <a:ext cx="8412480" cy="448056"/>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Chaque élève reprend la phrase suivante et y ajoute un connecteur. On construit la version finale ensemble au tableau.</a:t>
            </a:r>
            <a:endParaRPr lang="en-US" sz="1400" dirty="0"/>
          </a:p>
        </p:txBody>
      </p:sp>
      <p:sp>
        <p:nvSpPr>
          <p:cNvPr id="10" name="Shape 8"/>
          <p:cNvSpPr/>
          <p:nvPr/>
        </p:nvSpPr>
        <p:spPr>
          <a:xfrm>
            <a:off x="228600" y="1975104"/>
            <a:ext cx="384048" cy="384048"/>
          </a:xfrm>
          <a:prstGeom prst="ellipse">
            <a:avLst/>
          </a:prstGeom>
          <a:solidFill>
            <a:srgbClr val="F57F17"/>
          </a:solidFill>
          <a:ln w="12700">
            <a:solidFill>
              <a:srgbClr val="F57F17"/>
            </a:solidFill>
            <a:prstDash val="solid"/>
          </a:ln>
        </p:spPr>
      </p:sp>
      <p:sp>
        <p:nvSpPr>
          <p:cNvPr id="11" name="Text 9"/>
          <p:cNvSpPr/>
          <p:nvPr/>
        </p:nvSpPr>
        <p:spPr>
          <a:xfrm>
            <a:off x="228600" y="1975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12" name="Shape 10"/>
          <p:cNvSpPr/>
          <p:nvPr/>
        </p:nvSpPr>
        <p:spPr>
          <a:xfrm>
            <a:off x="713232" y="1920240"/>
            <a:ext cx="1463040" cy="512064"/>
          </a:xfrm>
          <a:prstGeom prst="rect">
            <a:avLst/>
          </a:prstGeom>
          <a:solidFill>
            <a:srgbClr val="FFF8E1"/>
          </a:solidFill>
          <a:ln w="25400">
            <a:solidFill>
              <a:srgbClr val="F57F17"/>
            </a:solidFill>
            <a:prstDash val="solid"/>
          </a:ln>
        </p:spPr>
      </p:sp>
      <p:sp>
        <p:nvSpPr>
          <p:cNvPr id="13" name="Text 11"/>
          <p:cNvSpPr/>
          <p:nvPr/>
        </p:nvSpPr>
        <p:spPr>
          <a:xfrm>
            <a:off x="749808" y="1956816"/>
            <a:ext cx="1389888" cy="438912"/>
          </a:xfrm>
          <a:prstGeom prst="rect">
            <a:avLst/>
          </a:prstGeom>
          <a:noFill/>
          <a:ln/>
        </p:spPr>
        <p:txBody>
          <a:bodyPr wrap="square" lIns="0" tIns="0" rIns="0" bIns="0" rtlCol="0" anchor="ctr"/>
          <a:lstStyle/>
          <a:p>
            <a:pPr algn="ctr" indent="0" marL="0">
              <a:buNone/>
            </a:pPr>
            <a:r>
              <a:rPr lang="en-US" sz="1500" b="1" dirty="0">
                <a:solidFill>
                  <a:srgbClr val="F57F17"/>
                </a:solidFill>
                <a:latin typeface="Calibri" pitchFamily="34" charset="0"/>
                <a:ea typeface="Calibri" pitchFamily="34" charset="-122"/>
                <a:cs typeface="Calibri" pitchFamily="34" charset="-120"/>
              </a:rPr>
              <a:t>D'abord,</a:t>
            </a:r>
            <a:endParaRPr lang="en-US" sz="1500" dirty="0"/>
          </a:p>
        </p:txBody>
      </p:sp>
      <p:sp>
        <p:nvSpPr>
          <p:cNvPr id="14" name="Text 12"/>
          <p:cNvSpPr/>
          <p:nvPr/>
        </p:nvSpPr>
        <p:spPr>
          <a:xfrm>
            <a:off x="2267712" y="1993392"/>
            <a:ext cx="365760" cy="365760"/>
          </a:xfrm>
          <a:prstGeom prst="rect">
            <a:avLst/>
          </a:prstGeom>
          <a:noFill/>
          <a:ln/>
        </p:spPr>
        <p:txBody>
          <a:bodyPr wrap="square" lIns="0" tIns="0" rIns="0" bIns="0" rtlCol="0" anchor="ctr"/>
          <a:lstStyle/>
          <a:p>
            <a:pPr algn="ctr" indent="0" marL="0">
              <a:buNone/>
            </a:pPr>
            <a:r>
              <a:rPr lang="en-US" sz="2000" dirty="0">
                <a:solidFill>
                  <a:srgbClr val="F57F17"/>
                </a:solidFill>
              </a:rPr>
              <a:t>→</a:t>
            </a:r>
            <a:endParaRPr lang="en-US" sz="2000" dirty="0"/>
          </a:p>
        </p:txBody>
      </p:sp>
      <p:sp>
        <p:nvSpPr>
          <p:cNvPr id="15" name="Shape 13"/>
          <p:cNvSpPr/>
          <p:nvPr/>
        </p:nvSpPr>
        <p:spPr>
          <a:xfrm>
            <a:off x="2651760" y="1920240"/>
            <a:ext cx="6217920" cy="512064"/>
          </a:xfrm>
          <a:prstGeom prst="rect">
            <a:avLst/>
          </a:prstGeom>
          <a:solidFill>
            <a:srgbClr val="E3F2FD"/>
          </a:solidFill>
          <a:ln w="12700">
            <a:solidFill>
              <a:srgbClr val="1565C0"/>
            </a:solidFill>
            <a:prstDash val="solid"/>
          </a:ln>
        </p:spPr>
      </p:sp>
      <p:sp>
        <p:nvSpPr>
          <p:cNvPr id="16" name="Text 14"/>
          <p:cNvSpPr/>
          <p:nvPr/>
        </p:nvSpPr>
        <p:spPr>
          <a:xfrm>
            <a:off x="2788920" y="1956816"/>
            <a:ext cx="5989320" cy="438912"/>
          </a:xfrm>
          <a:prstGeom prst="rect">
            <a:avLst/>
          </a:prstGeom>
          <a:noFill/>
          <a:ln/>
        </p:spPr>
        <p:txBody>
          <a:bodyPr wrap="square" lIns="0" tIns="0" rIns="0" bIns="0" rtlCol="0" anchor="ctr"/>
          <a:lstStyle/>
          <a:p>
            <a:pPr indent="0" marL="0">
              <a:buNone/>
            </a:pPr>
            <a:r>
              <a:rPr lang="en-US" sz="1600" i="1" dirty="0">
                <a:solidFill>
                  <a:srgbClr val="1A1A2E"/>
                </a:solidFill>
                <a:latin typeface="Calibri" pitchFamily="34" charset="0"/>
                <a:ea typeface="Calibri" pitchFamily="34" charset="-122"/>
                <a:cs typeface="Calibri" pitchFamily="34" charset="-120"/>
              </a:rPr>
              <a:t>Je me réveille.</a:t>
            </a:r>
            <a:endParaRPr lang="en-US" sz="1600" dirty="0"/>
          </a:p>
        </p:txBody>
      </p:sp>
      <p:sp>
        <p:nvSpPr>
          <p:cNvPr id="17" name="Shape 15"/>
          <p:cNvSpPr/>
          <p:nvPr/>
        </p:nvSpPr>
        <p:spPr>
          <a:xfrm>
            <a:off x="228600" y="2633472"/>
            <a:ext cx="384048" cy="384048"/>
          </a:xfrm>
          <a:prstGeom prst="ellipse">
            <a:avLst/>
          </a:prstGeom>
          <a:solidFill>
            <a:srgbClr val="F57F17"/>
          </a:solidFill>
          <a:ln w="12700">
            <a:solidFill>
              <a:srgbClr val="F57F17"/>
            </a:solidFill>
            <a:prstDash val="solid"/>
          </a:ln>
        </p:spPr>
      </p:sp>
      <p:sp>
        <p:nvSpPr>
          <p:cNvPr id="18" name="Text 16"/>
          <p:cNvSpPr/>
          <p:nvPr/>
        </p:nvSpPr>
        <p:spPr>
          <a:xfrm>
            <a:off x="228600" y="2633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9" name="Shape 17"/>
          <p:cNvSpPr/>
          <p:nvPr/>
        </p:nvSpPr>
        <p:spPr>
          <a:xfrm>
            <a:off x="713232" y="2578608"/>
            <a:ext cx="1463040" cy="512064"/>
          </a:xfrm>
          <a:prstGeom prst="rect">
            <a:avLst/>
          </a:prstGeom>
          <a:solidFill>
            <a:srgbClr val="FFF8E1"/>
          </a:solidFill>
          <a:ln w="25400">
            <a:solidFill>
              <a:srgbClr val="F57F17"/>
            </a:solidFill>
            <a:prstDash val="solid"/>
          </a:ln>
        </p:spPr>
      </p:sp>
      <p:sp>
        <p:nvSpPr>
          <p:cNvPr id="20" name="Text 18"/>
          <p:cNvSpPr/>
          <p:nvPr/>
        </p:nvSpPr>
        <p:spPr>
          <a:xfrm>
            <a:off x="749808" y="2615184"/>
            <a:ext cx="1389888" cy="438912"/>
          </a:xfrm>
          <a:prstGeom prst="rect">
            <a:avLst/>
          </a:prstGeom>
          <a:noFill/>
          <a:ln/>
        </p:spPr>
        <p:txBody>
          <a:bodyPr wrap="square" lIns="0" tIns="0" rIns="0" bIns="0" rtlCol="0" anchor="ctr"/>
          <a:lstStyle/>
          <a:p>
            <a:pPr algn="ctr" indent="0" marL="0">
              <a:buNone/>
            </a:pPr>
            <a:r>
              <a:rPr lang="en-US" sz="1500" b="1" dirty="0">
                <a:solidFill>
                  <a:srgbClr val="F57F17"/>
                </a:solidFill>
                <a:latin typeface="Calibri" pitchFamily="34" charset="0"/>
                <a:ea typeface="Calibri" pitchFamily="34" charset="-122"/>
                <a:cs typeface="Calibri" pitchFamily="34" charset="-120"/>
              </a:rPr>
              <a:t>Ensuite,</a:t>
            </a:r>
            <a:endParaRPr lang="en-US" sz="1500" dirty="0"/>
          </a:p>
        </p:txBody>
      </p:sp>
      <p:sp>
        <p:nvSpPr>
          <p:cNvPr id="21" name="Text 19"/>
          <p:cNvSpPr/>
          <p:nvPr/>
        </p:nvSpPr>
        <p:spPr>
          <a:xfrm>
            <a:off x="2267712" y="2651760"/>
            <a:ext cx="365760" cy="365760"/>
          </a:xfrm>
          <a:prstGeom prst="rect">
            <a:avLst/>
          </a:prstGeom>
          <a:noFill/>
          <a:ln/>
        </p:spPr>
        <p:txBody>
          <a:bodyPr wrap="square" lIns="0" tIns="0" rIns="0" bIns="0" rtlCol="0" anchor="ctr"/>
          <a:lstStyle/>
          <a:p>
            <a:pPr algn="ctr" indent="0" marL="0">
              <a:buNone/>
            </a:pPr>
            <a:r>
              <a:rPr lang="en-US" sz="2000" dirty="0">
                <a:solidFill>
                  <a:srgbClr val="F57F17"/>
                </a:solidFill>
              </a:rPr>
              <a:t>→</a:t>
            </a:r>
            <a:endParaRPr lang="en-US" sz="2000" dirty="0"/>
          </a:p>
        </p:txBody>
      </p:sp>
      <p:sp>
        <p:nvSpPr>
          <p:cNvPr id="22" name="Shape 20"/>
          <p:cNvSpPr/>
          <p:nvPr/>
        </p:nvSpPr>
        <p:spPr>
          <a:xfrm>
            <a:off x="2651760" y="2578608"/>
            <a:ext cx="6217920" cy="512064"/>
          </a:xfrm>
          <a:prstGeom prst="rect">
            <a:avLst/>
          </a:prstGeom>
          <a:solidFill>
            <a:srgbClr val="E3F2FD"/>
          </a:solidFill>
          <a:ln w="12700">
            <a:solidFill>
              <a:srgbClr val="1565C0"/>
            </a:solidFill>
            <a:prstDash val="solid"/>
          </a:ln>
        </p:spPr>
      </p:sp>
      <p:sp>
        <p:nvSpPr>
          <p:cNvPr id="23" name="Text 21"/>
          <p:cNvSpPr/>
          <p:nvPr/>
        </p:nvSpPr>
        <p:spPr>
          <a:xfrm>
            <a:off x="2788920" y="2615184"/>
            <a:ext cx="5989320" cy="438912"/>
          </a:xfrm>
          <a:prstGeom prst="rect">
            <a:avLst/>
          </a:prstGeom>
          <a:noFill/>
          <a:ln/>
        </p:spPr>
        <p:txBody>
          <a:bodyPr wrap="square" lIns="0" tIns="0" rIns="0" bIns="0" rtlCol="0" anchor="ctr"/>
          <a:lstStyle/>
          <a:p>
            <a:pPr indent="0" marL="0">
              <a:buNone/>
            </a:pPr>
            <a:r>
              <a:rPr lang="en-US" sz="1600" i="1" dirty="0">
                <a:solidFill>
                  <a:srgbClr val="1A1A2E"/>
                </a:solidFill>
                <a:latin typeface="Calibri" pitchFamily="34" charset="0"/>
                <a:ea typeface="Calibri" pitchFamily="34" charset="-122"/>
                <a:cs typeface="Calibri" pitchFamily="34" charset="-120"/>
              </a:rPr>
              <a:t>Je mange.</a:t>
            </a:r>
            <a:endParaRPr lang="en-US" sz="1600" dirty="0"/>
          </a:p>
        </p:txBody>
      </p:sp>
      <p:sp>
        <p:nvSpPr>
          <p:cNvPr id="24" name="Shape 22"/>
          <p:cNvSpPr/>
          <p:nvPr/>
        </p:nvSpPr>
        <p:spPr>
          <a:xfrm>
            <a:off x="228600" y="3291840"/>
            <a:ext cx="384048" cy="384048"/>
          </a:xfrm>
          <a:prstGeom prst="ellipse">
            <a:avLst/>
          </a:prstGeom>
          <a:solidFill>
            <a:srgbClr val="F57F17"/>
          </a:solidFill>
          <a:ln w="12700">
            <a:solidFill>
              <a:srgbClr val="F57F17"/>
            </a:solidFill>
            <a:prstDash val="solid"/>
          </a:ln>
        </p:spPr>
      </p:sp>
      <p:sp>
        <p:nvSpPr>
          <p:cNvPr id="25" name="Text 23"/>
          <p:cNvSpPr/>
          <p:nvPr/>
        </p:nvSpPr>
        <p:spPr>
          <a:xfrm>
            <a:off x="228600" y="32918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26" name="Shape 24"/>
          <p:cNvSpPr/>
          <p:nvPr/>
        </p:nvSpPr>
        <p:spPr>
          <a:xfrm>
            <a:off x="713232" y="3236976"/>
            <a:ext cx="1463040" cy="512064"/>
          </a:xfrm>
          <a:prstGeom prst="rect">
            <a:avLst/>
          </a:prstGeom>
          <a:solidFill>
            <a:srgbClr val="FFF8E1"/>
          </a:solidFill>
          <a:ln w="25400">
            <a:solidFill>
              <a:srgbClr val="F57F17"/>
            </a:solidFill>
            <a:prstDash val="solid"/>
          </a:ln>
        </p:spPr>
      </p:sp>
      <p:sp>
        <p:nvSpPr>
          <p:cNvPr id="27" name="Text 25"/>
          <p:cNvSpPr/>
          <p:nvPr/>
        </p:nvSpPr>
        <p:spPr>
          <a:xfrm>
            <a:off x="749808" y="3273552"/>
            <a:ext cx="1389888" cy="438912"/>
          </a:xfrm>
          <a:prstGeom prst="rect">
            <a:avLst/>
          </a:prstGeom>
          <a:noFill/>
          <a:ln/>
        </p:spPr>
        <p:txBody>
          <a:bodyPr wrap="square" lIns="0" tIns="0" rIns="0" bIns="0" rtlCol="0" anchor="ctr"/>
          <a:lstStyle/>
          <a:p>
            <a:pPr algn="ctr" indent="0" marL="0">
              <a:buNone/>
            </a:pPr>
            <a:r>
              <a:rPr lang="en-US" sz="1500" b="1" dirty="0">
                <a:solidFill>
                  <a:srgbClr val="F57F17"/>
                </a:solidFill>
                <a:latin typeface="Calibri" pitchFamily="34" charset="0"/>
                <a:ea typeface="Calibri" pitchFamily="34" charset="-122"/>
                <a:cs typeface="Calibri" pitchFamily="34" charset="-120"/>
              </a:rPr>
              <a:t>Puis</a:t>
            </a:r>
            <a:endParaRPr lang="en-US" sz="1500" dirty="0"/>
          </a:p>
        </p:txBody>
      </p:sp>
      <p:sp>
        <p:nvSpPr>
          <p:cNvPr id="28" name="Text 26"/>
          <p:cNvSpPr/>
          <p:nvPr/>
        </p:nvSpPr>
        <p:spPr>
          <a:xfrm>
            <a:off x="2267712" y="3310128"/>
            <a:ext cx="365760" cy="365760"/>
          </a:xfrm>
          <a:prstGeom prst="rect">
            <a:avLst/>
          </a:prstGeom>
          <a:noFill/>
          <a:ln/>
        </p:spPr>
        <p:txBody>
          <a:bodyPr wrap="square" lIns="0" tIns="0" rIns="0" bIns="0" rtlCol="0" anchor="ctr"/>
          <a:lstStyle/>
          <a:p>
            <a:pPr algn="ctr" indent="0" marL="0">
              <a:buNone/>
            </a:pPr>
            <a:r>
              <a:rPr lang="en-US" sz="2000" dirty="0">
                <a:solidFill>
                  <a:srgbClr val="F57F17"/>
                </a:solidFill>
              </a:rPr>
              <a:t>→</a:t>
            </a:r>
            <a:endParaRPr lang="en-US" sz="2000" dirty="0"/>
          </a:p>
        </p:txBody>
      </p:sp>
      <p:sp>
        <p:nvSpPr>
          <p:cNvPr id="29" name="Shape 27"/>
          <p:cNvSpPr/>
          <p:nvPr/>
        </p:nvSpPr>
        <p:spPr>
          <a:xfrm>
            <a:off x="2651760" y="3236976"/>
            <a:ext cx="6217920" cy="512064"/>
          </a:xfrm>
          <a:prstGeom prst="rect">
            <a:avLst/>
          </a:prstGeom>
          <a:solidFill>
            <a:srgbClr val="E3F2FD"/>
          </a:solidFill>
          <a:ln w="12700">
            <a:solidFill>
              <a:srgbClr val="1565C0"/>
            </a:solidFill>
            <a:prstDash val="solid"/>
          </a:ln>
        </p:spPr>
      </p:sp>
      <p:sp>
        <p:nvSpPr>
          <p:cNvPr id="30" name="Text 28"/>
          <p:cNvSpPr/>
          <p:nvPr/>
        </p:nvSpPr>
        <p:spPr>
          <a:xfrm>
            <a:off x="2788920" y="3273552"/>
            <a:ext cx="5989320" cy="438912"/>
          </a:xfrm>
          <a:prstGeom prst="rect">
            <a:avLst/>
          </a:prstGeom>
          <a:noFill/>
          <a:ln/>
        </p:spPr>
        <p:txBody>
          <a:bodyPr wrap="square" lIns="0" tIns="0" rIns="0" bIns="0" rtlCol="0" anchor="ctr"/>
          <a:lstStyle/>
          <a:p>
            <a:pPr indent="0" marL="0">
              <a:buNone/>
            </a:pPr>
            <a:r>
              <a:rPr lang="en-US" sz="1600" i="1" dirty="0">
                <a:solidFill>
                  <a:srgbClr val="1A1A2E"/>
                </a:solidFill>
                <a:latin typeface="Calibri" pitchFamily="34" charset="0"/>
                <a:ea typeface="Calibri" pitchFamily="34" charset="-122"/>
                <a:cs typeface="Calibri" pitchFamily="34" charset="-120"/>
              </a:rPr>
              <a:t>Je prends mon sac.</a:t>
            </a:r>
            <a:endParaRPr lang="en-US" sz="1600" dirty="0"/>
          </a:p>
        </p:txBody>
      </p:sp>
      <p:sp>
        <p:nvSpPr>
          <p:cNvPr id="31" name="Shape 29"/>
          <p:cNvSpPr/>
          <p:nvPr/>
        </p:nvSpPr>
        <p:spPr>
          <a:xfrm>
            <a:off x="228600" y="3950208"/>
            <a:ext cx="384048" cy="384048"/>
          </a:xfrm>
          <a:prstGeom prst="ellipse">
            <a:avLst/>
          </a:prstGeom>
          <a:solidFill>
            <a:srgbClr val="F57F17"/>
          </a:solidFill>
          <a:ln w="12700">
            <a:solidFill>
              <a:srgbClr val="F57F17"/>
            </a:solidFill>
            <a:prstDash val="solid"/>
          </a:ln>
        </p:spPr>
      </p:sp>
      <p:sp>
        <p:nvSpPr>
          <p:cNvPr id="32" name="Text 30"/>
          <p:cNvSpPr/>
          <p:nvPr/>
        </p:nvSpPr>
        <p:spPr>
          <a:xfrm>
            <a:off x="228600" y="39502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33" name="Shape 31"/>
          <p:cNvSpPr/>
          <p:nvPr/>
        </p:nvSpPr>
        <p:spPr>
          <a:xfrm>
            <a:off x="713232" y="3895344"/>
            <a:ext cx="1463040" cy="512064"/>
          </a:xfrm>
          <a:prstGeom prst="rect">
            <a:avLst/>
          </a:prstGeom>
          <a:solidFill>
            <a:srgbClr val="FFF8E1"/>
          </a:solidFill>
          <a:ln w="25400">
            <a:solidFill>
              <a:srgbClr val="F57F17"/>
            </a:solidFill>
            <a:prstDash val="solid"/>
          </a:ln>
        </p:spPr>
      </p:sp>
      <p:sp>
        <p:nvSpPr>
          <p:cNvPr id="34" name="Text 32"/>
          <p:cNvSpPr/>
          <p:nvPr/>
        </p:nvSpPr>
        <p:spPr>
          <a:xfrm>
            <a:off x="749808" y="3931920"/>
            <a:ext cx="1389888" cy="438912"/>
          </a:xfrm>
          <a:prstGeom prst="rect">
            <a:avLst/>
          </a:prstGeom>
          <a:noFill/>
          <a:ln/>
        </p:spPr>
        <p:txBody>
          <a:bodyPr wrap="square" lIns="0" tIns="0" rIns="0" bIns="0" rtlCol="0" anchor="ctr"/>
          <a:lstStyle/>
          <a:p>
            <a:pPr algn="ctr" indent="0" marL="0">
              <a:buNone/>
            </a:pPr>
            <a:r>
              <a:rPr lang="en-US" sz="1500" b="1" dirty="0">
                <a:solidFill>
                  <a:srgbClr val="F57F17"/>
                </a:solidFill>
                <a:latin typeface="Calibri" pitchFamily="34" charset="0"/>
                <a:ea typeface="Calibri" pitchFamily="34" charset="-122"/>
                <a:cs typeface="Calibri" pitchFamily="34" charset="-120"/>
              </a:rPr>
              <a:t>Enfin,</a:t>
            </a:r>
            <a:endParaRPr lang="en-US" sz="1500" dirty="0"/>
          </a:p>
        </p:txBody>
      </p:sp>
      <p:sp>
        <p:nvSpPr>
          <p:cNvPr id="35" name="Text 33"/>
          <p:cNvSpPr/>
          <p:nvPr/>
        </p:nvSpPr>
        <p:spPr>
          <a:xfrm>
            <a:off x="2267712" y="3968496"/>
            <a:ext cx="365760" cy="365760"/>
          </a:xfrm>
          <a:prstGeom prst="rect">
            <a:avLst/>
          </a:prstGeom>
          <a:noFill/>
          <a:ln/>
        </p:spPr>
        <p:txBody>
          <a:bodyPr wrap="square" lIns="0" tIns="0" rIns="0" bIns="0" rtlCol="0" anchor="ctr"/>
          <a:lstStyle/>
          <a:p>
            <a:pPr algn="ctr" indent="0" marL="0">
              <a:buNone/>
            </a:pPr>
            <a:r>
              <a:rPr lang="en-US" sz="2000" dirty="0">
                <a:solidFill>
                  <a:srgbClr val="F57F17"/>
                </a:solidFill>
              </a:rPr>
              <a:t>→</a:t>
            </a:r>
            <a:endParaRPr lang="en-US" sz="2000" dirty="0"/>
          </a:p>
        </p:txBody>
      </p:sp>
      <p:sp>
        <p:nvSpPr>
          <p:cNvPr id="36" name="Shape 34"/>
          <p:cNvSpPr/>
          <p:nvPr/>
        </p:nvSpPr>
        <p:spPr>
          <a:xfrm>
            <a:off x="2651760" y="3895344"/>
            <a:ext cx="6217920" cy="512064"/>
          </a:xfrm>
          <a:prstGeom prst="rect">
            <a:avLst/>
          </a:prstGeom>
          <a:solidFill>
            <a:srgbClr val="E3F2FD"/>
          </a:solidFill>
          <a:ln w="12700">
            <a:solidFill>
              <a:srgbClr val="1565C0"/>
            </a:solidFill>
            <a:prstDash val="solid"/>
          </a:ln>
        </p:spPr>
      </p:sp>
      <p:sp>
        <p:nvSpPr>
          <p:cNvPr id="37" name="Text 35"/>
          <p:cNvSpPr/>
          <p:nvPr/>
        </p:nvSpPr>
        <p:spPr>
          <a:xfrm>
            <a:off x="2788920" y="3931920"/>
            <a:ext cx="5989320" cy="438912"/>
          </a:xfrm>
          <a:prstGeom prst="rect">
            <a:avLst/>
          </a:prstGeom>
          <a:noFill/>
          <a:ln/>
        </p:spPr>
        <p:txBody>
          <a:bodyPr wrap="square" lIns="0" tIns="0" rIns="0" bIns="0" rtlCol="0" anchor="ctr"/>
          <a:lstStyle/>
          <a:p>
            <a:pPr indent="0" marL="0">
              <a:buNone/>
            </a:pPr>
            <a:r>
              <a:rPr lang="en-US" sz="1600" i="1" dirty="0">
                <a:solidFill>
                  <a:srgbClr val="1A1A2E"/>
                </a:solidFill>
                <a:latin typeface="Calibri" pitchFamily="34" charset="0"/>
                <a:ea typeface="Calibri" pitchFamily="34" charset="-122"/>
                <a:cs typeface="Calibri" pitchFamily="34" charset="-120"/>
              </a:rPr>
              <a:t>Je pars à l'école.</a:t>
            </a:r>
            <a:endParaRPr lang="en-US" sz="1600" dirty="0"/>
          </a:p>
        </p:txBody>
      </p:sp>
      <p:sp>
        <p:nvSpPr>
          <p:cNvPr id="38" name="Text 36"/>
          <p:cNvSpPr/>
          <p:nvPr/>
        </p:nvSpPr>
        <p:spPr>
          <a:xfrm>
            <a:off x="228600" y="4590288"/>
            <a:ext cx="8686800" cy="34747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 Peut-on utiliser d'autres connecteurs ? Lesquels changerait-on et pourquoi ?</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A1B9A"/>
          </a:solidFill>
          <a:ln w="12700">
            <a:solidFill>
              <a:srgbClr val="6A1B9A"/>
            </a:solidFill>
            <a:prstDash val="solid"/>
          </a:ln>
        </p:spPr>
      </p:sp>
      <p:sp>
        <p:nvSpPr>
          <p:cNvPr id="3" name="Text 1"/>
          <p:cNvSpPr/>
          <p:nvPr/>
        </p:nvSpPr>
        <p:spPr>
          <a:xfrm>
            <a:off x="228600" y="164592"/>
            <a:ext cx="8686800" cy="594360"/>
          </a:xfrm>
          <a:prstGeom prst="rect">
            <a:avLst/>
          </a:prstGeom>
          <a:noFill/>
          <a:ln/>
        </p:spPr>
        <p:txBody>
          <a:bodyPr wrap="square" lIns="0" tIns="0" rIns="0" bIns="0" rtlCol="0" anchor="ctr"/>
          <a:lstStyle/>
          <a:p>
            <a:pPr algn="l" indent="0" marL="0">
              <a:buNone/>
            </a:pPr>
            <a:r>
              <a:rPr lang="en-US" sz="2800" b="1" dirty="0">
                <a:solidFill>
                  <a:srgbClr val="1A1A2E"/>
                </a:solidFill>
                <a:latin typeface="Trebuchet MS" pitchFamily="34" charset="0"/>
                <a:ea typeface="Trebuchet MS" pitchFamily="34" charset="-122"/>
                <a:cs typeface="Trebuchet MS" pitchFamily="34" charset="-120"/>
              </a:rPr>
              <a:t>Repérer les répétitions</a:t>
            </a:r>
            <a:endParaRPr lang="en-US" sz="2800" dirty="0"/>
          </a:p>
        </p:txBody>
      </p:sp>
      <p:sp>
        <p:nvSpPr>
          <p:cNvPr id="4" name="Text 2"/>
          <p:cNvSpPr/>
          <p:nvPr/>
        </p:nvSpPr>
        <p:spPr>
          <a:xfrm>
            <a:off x="228600" y="749808"/>
            <a:ext cx="6400800" cy="292608"/>
          </a:xfrm>
          <a:prstGeom prst="rect">
            <a:avLst/>
          </a:prstGeom>
          <a:noFill/>
          <a:ln/>
        </p:spPr>
        <p:txBody>
          <a:bodyPr wrap="square" lIns="0" tIns="0" rIns="0" bIns="0" rtlCol="0" anchor="ctr"/>
          <a:lstStyle/>
          <a:p>
            <a:pPr algn="l" indent="0" marL="0">
              <a:buNone/>
            </a:pPr>
            <a:r>
              <a:rPr lang="en-US" sz="1300" i="1" dirty="0">
                <a:solidFill>
                  <a:srgbClr val="546E7A"/>
                </a:solidFill>
                <a:latin typeface="Calibri" pitchFamily="34" charset="0"/>
                <a:ea typeface="Calibri" pitchFamily="34" charset="-122"/>
                <a:cs typeface="Calibri" pitchFamily="34" charset="-120"/>
              </a:rPr>
              <a:t>S5 — Cohérence textuelle : substituts et reprises</a:t>
            </a:r>
            <a:endParaRPr lang="en-US" sz="1300" dirty="0"/>
          </a:p>
        </p:txBody>
      </p:sp>
      <p:sp>
        <p:nvSpPr>
          <p:cNvPr id="5" name="Shape 3"/>
          <p:cNvSpPr/>
          <p:nvPr/>
        </p:nvSpPr>
        <p:spPr>
          <a:xfrm>
            <a:off x="228600" y="1060704"/>
            <a:ext cx="8686800" cy="0"/>
          </a:xfrm>
          <a:prstGeom prst="line">
            <a:avLst/>
          </a:prstGeom>
          <a:noFill/>
          <a:ln w="12700">
            <a:solidFill>
              <a:srgbClr val="CFD8DC"/>
            </a:solidFill>
            <a:prstDash val="solid"/>
          </a:ln>
        </p:spPr>
      </p:sp>
      <p:sp>
        <p:nvSpPr>
          <p:cNvPr id="6" name="Shape 4"/>
          <p:cNvSpPr/>
          <p:nvPr/>
        </p:nvSpPr>
        <p:spPr>
          <a:xfrm>
            <a:off x="8412480" y="91440"/>
            <a:ext cx="594360" cy="594360"/>
          </a:xfrm>
          <a:prstGeom prst="ellipse">
            <a:avLst/>
          </a:prstGeom>
          <a:solidFill>
            <a:srgbClr val="F57F17"/>
          </a:solidFill>
          <a:ln w="12700">
            <a:solidFill>
              <a:srgbClr val="F57F17"/>
            </a:solidFill>
            <a:prstDash val="solid"/>
          </a:ln>
        </p:spPr>
      </p:sp>
      <p:sp>
        <p:nvSpPr>
          <p:cNvPr id="7" name="Text 5"/>
          <p:cNvSpPr/>
          <p:nvPr/>
        </p:nvSpPr>
        <p:spPr>
          <a:xfrm>
            <a:off x="8412480" y="128016"/>
            <a:ext cx="594360" cy="52120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S5</a:t>
            </a:r>
            <a:endParaRPr lang="en-US" sz="1800" dirty="0"/>
          </a:p>
        </p:txBody>
      </p:sp>
      <p:sp>
        <p:nvSpPr>
          <p:cNvPr id="8" name="Shape 6"/>
          <p:cNvSpPr/>
          <p:nvPr/>
        </p:nvSpPr>
        <p:spPr>
          <a:xfrm>
            <a:off x="228600" y="1170432"/>
            <a:ext cx="8686800" cy="594360"/>
          </a:xfrm>
          <a:prstGeom prst="rect">
            <a:avLst/>
          </a:prstGeom>
          <a:solidFill>
            <a:srgbClr val="F3E5F5"/>
          </a:solidFill>
          <a:ln w="25400">
            <a:solidFill>
              <a:srgbClr val="6A1B9A"/>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365760" y="1243584"/>
            <a:ext cx="8412480" cy="448056"/>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Levez la main dès que vous entendez une répétition. Pour chaque mot répété, proposez un substitut.</a:t>
            </a:r>
            <a:endParaRPr lang="en-US" sz="1400" dirty="0"/>
          </a:p>
        </p:txBody>
      </p:sp>
      <p:sp>
        <p:nvSpPr>
          <p:cNvPr id="10" name="Shape 8"/>
          <p:cNvSpPr/>
          <p:nvPr/>
        </p:nvSpPr>
        <p:spPr>
          <a:xfrm>
            <a:off x="228600" y="1920240"/>
            <a:ext cx="5303520" cy="475488"/>
          </a:xfrm>
          <a:prstGeom prst="rect">
            <a:avLst/>
          </a:prstGeom>
          <a:solidFill>
            <a:srgbClr val="F3E5F5"/>
          </a:solidFill>
          <a:ln w="12700">
            <a:solidFill>
              <a:srgbClr val="6A1B9A"/>
            </a:solidFill>
            <a:prstDash val="solid"/>
          </a:ln>
        </p:spPr>
      </p:sp>
      <p:sp>
        <p:nvSpPr>
          <p:cNvPr id="11" name="Text 9"/>
          <p:cNvSpPr/>
          <p:nvPr/>
        </p:nvSpPr>
        <p:spPr>
          <a:xfrm>
            <a:off x="365760" y="1956816"/>
            <a:ext cx="5029200" cy="402336"/>
          </a:xfrm>
          <a:prstGeom prst="rect">
            <a:avLst/>
          </a:prstGeom>
          <a:noFill/>
          <a:ln/>
        </p:spPr>
        <p:txBody>
          <a:bodyPr wrap="square" lIns="0" tIns="0" rIns="0" bIns="0" rtlCol="0" anchor="ctr"/>
          <a:lstStyle/>
          <a:p>
            <a:pPr indent="0" marL="0">
              <a:buNone/>
            </a:pPr>
            <a:r>
              <a:rPr lang="en-US" sz="1700" i="1" dirty="0">
                <a:solidFill>
                  <a:srgbClr val="1A1A2E"/>
                </a:solidFill>
                <a:latin typeface="Calibri" pitchFamily="34" charset="0"/>
                <a:ea typeface="Calibri" pitchFamily="34" charset="-122"/>
                <a:cs typeface="Calibri" pitchFamily="34" charset="-120"/>
              </a:rPr>
              <a:t>Le loup vit un lapin.</a:t>
            </a:r>
            <a:endParaRPr lang="en-US" sz="1700" dirty="0"/>
          </a:p>
        </p:txBody>
      </p:sp>
      <p:sp>
        <p:nvSpPr>
          <p:cNvPr id="12" name="Shape 10"/>
          <p:cNvSpPr/>
          <p:nvPr/>
        </p:nvSpPr>
        <p:spPr>
          <a:xfrm>
            <a:off x="228600" y="2487168"/>
            <a:ext cx="5303520" cy="475488"/>
          </a:xfrm>
          <a:prstGeom prst="rect">
            <a:avLst/>
          </a:prstGeom>
          <a:solidFill>
            <a:srgbClr val="FAF0FF"/>
          </a:solidFill>
          <a:ln w="12700">
            <a:solidFill>
              <a:srgbClr val="6A1B9A"/>
            </a:solidFill>
            <a:prstDash val="solid"/>
          </a:ln>
        </p:spPr>
      </p:sp>
      <p:sp>
        <p:nvSpPr>
          <p:cNvPr id="13" name="Text 11"/>
          <p:cNvSpPr/>
          <p:nvPr/>
        </p:nvSpPr>
        <p:spPr>
          <a:xfrm>
            <a:off x="365760" y="2523744"/>
            <a:ext cx="5029200" cy="402336"/>
          </a:xfrm>
          <a:prstGeom prst="rect">
            <a:avLst/>
          </a:prstGeom>
          <a:noFill/>
          <a:ln/>
        </p:spPr>
        <p:txBody>
          <a:bodyPr wrap="square" lIns="0" tIns="0" rIns="0" bIns="0" rtlCol="0" anchor="ctr"/>
          <a:lstStyle/>
          <a:p>
            <a:pPr indent="0" marL="0">
              <a:buNone/>
            </a:pPr>
            <a:r>
              <a:rPr lang="en-US" sz="1700" i="1" dirty="0">
                <a:solidFill>
                  <a:srgbClr val="1A1A2E"/>
                </a:solidFill>
                <a:latin typeface="Calibri" pitchFamily="34" charset="0"/>
                <a:ea typeface="Calibri" pitchFamily="34" charset="-122"/>
                <a:cs typeface="Calibri" pitchFamily="34" charset="-120"/>
              </a:rPr>
              <a:t>Le loup courut après le lapin.</a:t>
            </a:r>
            <a:endParaRPr lang="en-US" sz="1700" dirty="0"/>
          </a:p>
        </p:txBody>
      </p:sp>
      <p:sp>
        <p:nvSpPr>
          <p:cNvPr id="14" name="Shape 12"/>
          <p:cNvSpPr/>
          <p:nvPr/>
        </p:nvSpPr>
        <p:spPr>
          <a:xfrm>
            <a:off x="228600" y="3054096"/>
            <a:ext cx="5303520" cy="475488"/>
          </a:xfrm>
          <a:prstGeom prst="rect">
            <a:avLst/>
          </a:prstGeom>
          <a:solidFill>
            <a:srgbClr val="F3E5F5"/>
          </a:solidFill>
          <a:ln w="12700">
            <a:solidFill>
              <a:srgbClr val="6A1B9A"/>
            </a:solidFill>
            <a:prstDash val="solid"/>
          </a:ln>
        </p:spPr>
      </p:sp>
      <p:sp>
        <p:nvSpPr>
          <p:cNvPr id="15" name="Text 13"/>
          <p:cNvSpPr/>
          <p:nvPr/>
        </p:nvSpPr>
        <p:spPr>
          <a:xfrm>
            <a:off x="365760" y="3090672"/>
            <a:ext cx="5029200" cy="402336"/>
          </a:xfrm>
          <a:prstGeom prst="rect">
            <a:avLst/>
          </a:prstGeom>
          <a:noFill/>
          <a:ln/>
        </p:spPr>
        <p:txBody>
          <a:bodyPr wrap="square" lIns="0" tIns="0" rIns="0" bIns="0" rtlCol="0" anchor="ctr"/>
          <a:lstStyle/>
          <a:p>
            <a:pPr indent="0" marL="0">
              <a:buNone/>
            </a:pPr>
            <a:r>
              <a:rPr lang="en-US" sz="1700" i="1" dirty="0">
                <a:solidFill>
                  <a:srgbClr val="1A1A2E"/>
                </a:solidFill>
                <a:latin typeface="Calibri" pitchFamily="34" charset="0"/>
                <a:ea typeface="Calibri" pitchFamily="34" charset="-122"/>
                <a:cs typeface="Calibri" pitchFamily="34" charset="-120"/>
              </a:rPr>
              <a:t>Le loup attrapa le lapin.</a:t>
            </a:r>
            <a:endParaRPr lang="en-US" sz="1700" dirty="0"/>
          </a:p>
        </p:txBody>
      </p:sp>
      <p:sp>
        <p:nvSpPr>
          <p:cNvPr id="16" name="Shape 14"/>
          <p:cNvSpPr/>
          <p:nvPr/>
        </p:nvSpPr>
        <p:spPr>
          <a:xfrm>
            <a:off x="228600" y="3621024"/>
            <a:ext cx="5303520" cy="475488"/>
          </a:xfrm>
          <a:prstGeom prst="rect">
            <a:avLst/>
          </a:prstGeom>
          <a:solidFill>
            <a:srgbClr val="FAF0FF"/>
          </a:solidFill>
          <a:ln w="12700">
            <a:solidFill>
              <a:srgbClr val="6A1B9A"/>
            </a:solidFill>
            <a:prstDash val="solid"/>
          </a:ln>
        </p:spPr>
      </p:sp>
      <p:sp>
        <p:nvSpPr>
          <p:cNvPr id="17" name="Text 15"/>
          <p:cNvSpPr/>
          <p:nvPr/>
        </p:nvSpPr>
        <p:spPr>
          <a:xfrm>
            <a:off x="365760" y="3657600"/>
            <a:ext cx="5029200" cy="402336"/>
          </a:xfrm>
          <a:prstGeom prst="rect">
            <a:avLst/>
          </a:prstGeom>
          <a:noFill/>
          <a:ln/>
        </p:spPr>
        <p:txBody>
          <a:bodyPr wrap="square" lIns="0" tIns="0" rIns="0" bIns="0" rtlCol="0" anchor="ctr"/>
          <a:lstStyle/>
          <a:p>
            <a:pPr indent="0" marL="0">
              <a:buNone/>
            </a:pPr>
            <a:r>
              <a:rPr lang="en-US" sz="1700" i="1" dirty="0">
                <a:solidFill>
                  <a:srgbClr val="1A1A2E"/>
                </a:solidFill>
                <a:latin typeface="Calibri" pitchFamily="34" charset="0"/>
                <a:ea typeface="Calibri" pitchFamily="34" charset="-122"/>
                <a:cs typeface="Calibri" pitchFamily="34" charset="-120"/>
              </a:rPr>
              <a:t>Le loup mangea le lapin.</a:t>
            </a:r>
            <a:endParaRPr lang="en-US" sz="1700" dirty="0"/>
          </a:p>
        </p:txBody>
      </p:sp>
      <p:sp>
        <p:nvSpPr>
          <p:cNvPr id="18" name="Shape 16"/>
          <p:cNvSpPr/>
          <p:nvPr/>
        </p:nvSpPr>
        <p:spPr>
          <a:xfrm>
            <a:off x="5760720" y="1828800"/>
            <a:ext cx="3154680" cy="2377440"/>
          </a:xfrm>
          <a:prstGeom prst="rect">
            <a:avLst/>
          </a:prstGeom>
          <a:solidFill>
            <a:srgbClr val="FAF0FF"/>
          </a:solidFill>
          <a:ln w="25400">
            <a:solidFill>
              <a:srgbClr val="6A1B9A"/>
            </a:solidFill>
            <a:prstDash val="solid"/>
          </a:ln>
        </p:spPr>
      </p:sp>
      <p:sp>
        <p:nvSpPr>
          <p:cNvPr id="19" name="Text 17"/>
          <p:cNvSpPr/>
          <p:nvPr/>
        </p:nvSpPr>
        <p:spPr>
          <a:xfrm>
            <a:off x="5760720" y="1847088"/>
            <a:ext cx="3154680" cy="292608"/>
          </a:xfrm>
          <a:prstGeom prst="rect">
            <a:avLst/>
          </a:prstGeom>
          <a:noFill/>
          <a:ln/>
        </p:spPr>
        <p:txBody>
          <a:bodyPr wrap="square" lIns="0" tIns="0" rIns="0" bIns="0" rtlCol="0" anchor="ctr"/>
          <a:lstStyle/>
          <a:p>
            <a:pPr algn="ctr" indent="0" marL="0">
              <a:buNone/>
            </a:pPr>
            <a:r>
              <a:rPr lang="en-US" sz="1200" b="1" dirty="0">
                <a:solidFill>
                  <a:srgbClr val="6A1B9A"/>
                </a:solidFill>
                <a:latin typeface="Calibri" pitchFamily="34" charset="0"/>
                <a:ea typeface="Calibri" pitchFamily="34" charset="-122"/>
                <a:cs typeface="Calibri" pitchFamily="34" charset="-120"/>
              </a:rPr>
              <a:t>Substituts possibles</a:t>
            </a:r>
            <a:endParaRPr lang="en-US" sz="1200" dirty="0"/>
          </a:p>
        </p:txBody>
      </p:sp>
      <p:sp>
        <p:nvSpPr>
          <p:cNvPr id="20" name="Text 18"/>
          <p:cNvSpPr/>
          <p:nvPr/>
        </p:nvSpPr>
        <p:spPr>
          <a:xfrm>
            <a:off x="5897880" y="2176272"/>
            <a:ext cx="2880360" cy="47548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Le loup → il / le prédateur</a:t>
            </a:r>
            <a:endParaRPr lang="en-US" sz="1300" dirty="0"/>
          </a:p>
        </p:txBody>
      </p:sp>
      <p:sp>
        <p:nvSpPr>
          <p:cNvPr id="21" name="Text 19"/>
          <p:cNvSpPr/>
          <p:nvPr/>
        </p:nvSpPr>
        <p:spPr>
          <a:xfrm>
            <a:off x="5897880" y="2743200"/>
            <a:ext cx="2880360" cy="47548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Le lapin → il / le rongeur</a:t>
            </a:r>
            <a:endParaRPr lang="en-US" sz="1300" dirty="0"/>
          </a:p>
        </p:txBody>
      </p:sp>
      <p:sp>
        <p:nvSpPr>
          <p:cNvPr id="22" name="Text 20"/>
          <p:cNvSpPr/>
          <p:nvPr/>
        </p:nvSpPr>
        <p:spPr>
          <a:xfrm>
            <a:off x="5897880" y="3310128"/>
            <a:ext cx="2880360" cy="475488"/>
          </a:xfrm>
          <a:prstGeom prst="rect">
            <a:avLst/>
          </a:prstGeom>
          <a:noFill/>
          <a:ln/>
        </p:spPr>
        <p:txBody>
          <a:bodyPr wrap="square" lIns="0" tIns="0" rIns="0" bIns="0" rtlCol="0" anchor="ctr"/>
          <a:lstStyle/>
          <a:p>
            <a:pPr indent="0" marL="0">
              <a:buNone/>
            </a:pPr>
            <a:r>
              <a:rPr lang="en-US" sz="1300" i="1" dirty="0">
                <a:solidFill>
                  <a:srgbClr val="1A1A2E"/>
                </a:solidFill>
                <a:latin typeface="Calibri" pitchFamily="34" charset="0"/>
                <a:ea typeface="Calibri" pitchFamily="34" charset="-122"/>
                <a:cs typeface="Calibri" pitchFamily="34" charset="-120"/>
              </a:rPr>
              <a:t>          / la petite bête</a:t>
            </a:r>
            <a:endParaRPr lang="en-US" sz="1300" dirty="0"/>
          </a:p>
        </p:txBody>
      </p:sp>
      <p:sp>
        <p:nvSpPr>
          <p:cNvPr id="23" name="Text 21"/>
          <p:cNvSpPr/>
          <p:nvPr/>
        </p:nvSpPr>
        <p:spPr>
          <a:xfrm>
            <a:off x="228600" y="4590288"/>
            <a:ext cx="8686800" cy="34747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 Réécrire oralement la dernière phrase en utilisant deux substituts différents.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E7D32"/>
          </a:solidFill>
          <a:ln w="12700">
            <a:solidFill>
              <a:srgbClr val="2E7D32"/>
            </a:solidFill>
            <a:prstDash val="solid"/>
          </a:ln>
        </p:spPr>
      </p:sp>
      <p:sp>
        <p:nvSpPr>
          <p:cNvPr id="3" name="Text 1"/>
          <p:cNvSpPr/>
          <p:nvPr/>
        </p:nvSpPr>
        <p:spPr>
          <a:xfrm>
            <a:off x="228600" y="164592"/>
            <a:ext cx="8686800" cy="594360"/>
          </a:xfrm>
          <a:prstGeom prst="rect">
            <a:avLst/>
          </a:prstGeom>
          <a:noFill/>
          <a:ln/>
        </p:spPr>
        <p:txBody>
          <a:bodyPr wrap="square" lIns="0" tIns="0" rIns="0" bIns="0" rtlCol="0" anchor="ctr"/>
          <a:lstStyle/>
          <a:p>
            <a:pPr algn="l" indent="0" marL="0">
              <a:buNone/>
            </a:pPr>
            <a:r>
              <a:rPr lang="en-US" sz="2800" b="1" dirty="0">
                <a:solidFill>
                  <a:srgbClr val="1A1A2E"/>
                </a:solidFill>
                <a:latin typeface="Trebuchet MS" pitchFamily="34" charset="0"/>
                <a:ea typeface="Trebuchet MS" pitchFamily="34" charset="-122"/>
                <a:cs typeface="Trebuchet MS" pitchFamily="34" charset="-120"/>
              </a:rPr>
              <a:t>Quelle introduction accroche le mieux ?</a:t>
            </a:r>
            <a:endParaRPr lang="en-US" sz="2800" dirty="0"/>
          </a:p>
        </p:txBody>
      </p:sp>
      <p:sp>
        <p:nvSpPr>
          <p:cNvPr id="4" name="Text 2"/>
          <p:cNvSpPr/>
          <p:nvPr/>
        </p:nvSpPr>
        <p:spPr>
          <a:xfrm>
            <a:off x="228600" y="749808"/>
            <a:ext cx="6400800" cy="292608"/>
          </a:xfrm>
          <a:prstGeom prst="rect">
            <a:avLst/>
          </a:prstGeom>
          <a:noFill/>
          <a:ln/>
        </p:spPr>
        <p:txBody>
          <a:bodyPr wrap="square" lIns="0" tIns="0" rIns="0" bIns="0" rtlCol="0" anchor="ctr"/>
          <a:lstStyle/>
          <a:p>
            <a:pPr algn="l" indent="0" marL="0">
              <a:buNone/>
            </a:pPr>
            <a:r>
              <a:rPr lang="en-US" sz="1300" i="1" dirty="0">
                <a:solidFill>
                  <a:srgbClr val="546E7A"/>
                </a:solidFill>
                <a:latin typeface="Calibri" pitchFamily="34" charset="0"/>
                <a:ea typeface="Calibri" pitchFamily="34" charset="-122"/>
                <a:cs typeface="Calibri" pitchFamily="34" charset="-120"/>
              </a:rPr>
              <a:t>S6 — Introduction et conclusion</a:t>
            </a:r>
            <a:endParaRPr lang="en-US" sz="1300" dirty="0"/>
          </a:p>
        </p:txBody>
      </p:sp>
      <p:sp>
        <p:nvSpPr>
          <p:cNvPr id="5" name="Shape 3"/>
          <p:cNvSpPr/>
          <p:nvPr/>
        </p:nvSpPr>
        <p:spPr>
          <a:xfrm>
            <a:off x="228600" y="1060704"/>
            <a:ext cx="8686800" cy="0"/>
          </a:xfrm>
          <a:prstGeom prst="line">
            <a:avLst/>
          </a:prstGeom>
          <a:noFill/>
          <a:ln w="12700">
            <a:solidFill>
              <a:srgbClr val="CFD8DC"/>
            </a:solidFill>
            <a:prstDash val="solid"/>
          </a:ln>
        </p:spPr>
      </p:sp>
      <p:sp>
        <p:nvSpPr>
          <p:cNvPr id="6" name="Shape 4"/>
          <p:cNvSpPr/>
          <p:nvPr/>
        </p:nvSpPr>
        <p:spPr>
          <a:xfrm>
            <a:off x="8412480" y="91440"/>
            <a:ext cx="594360" cy="594360"/>
          </a:xfrm>
          <a:prstGeom prst="ellipse">
            <a:avLst/>
          </a:prstGeom>
          <a:solidFill>
            <a:srgbClr val="F57F17"/>
          </a:solidFill>
          <a:ln w="12700">
            <a:solidFill>
              <a:srgbClr val="F57F17"/>
            </a:solidFill>
            <a:prstDash val="solid"/>
          </a:ln>
        </p:spPr>
      </p:sp>
      <p:sp>
        <p:nvSpPr>
          <p:cNvPr id="7" name="Text 5"/>
          <p:cNvSpPr/>
          <p:nvPr/>
        </p:nvSpPr>
        <p:spPr>
          <a:xfrm>
            <a:off x="8412480" y="128016"/>
            <a:ext cx="594360" cy="52120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S6</a:t>
            </a:r>
            <a:endParaRPr lang="en-US" sz="1800" dirty="0"/>
          </a:p>
        </p:txBody>
      </p:sp>
      <p:sp>
        <p:nvSpPr>
          <p:cNvPr id="8" name="Shape 6"/>
          <p:cNvSpPr/>
          <p:nvPr/>
        </p:nvSpPr>
        <p:spPr>
          <a:xfrm>
            <a:off x="228600" y="1170432"/>
            <a:ext cx="8686800" cy="594360"/>
          </a:xfrm>
          <a:prstGeom prst="rect">
            <a:avLst/>
          </a:prstGeom>
          <a:solidFill>
            <a:srgbClr val="E8F5E9"/>
          </a:solidFill>
          <a:ln w="25400">
            <a:solidFill>
              <a:srgbClr val="2E7D32"/>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365760" y="1243584"/>
            <a:ext cx="8412480" cy="448056"/>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Pouce levé 👍 pour la meilleure accroche, pouce baissé 👎 pour la moins efficace. Justifiez en une phrase.</a:t>
            </a:r>
            <a:endParaRPr lang="en-US" sz="1400" dirty="0"/>
          </a:p>
        </p:txBody>
      </p:sp>
      <p:sp>
        <p:nvSpPr>
          <p:cNvPr id="10" name="Shape 8"/>
          <p:cNvSpPr/>
          <p:nvPr/>
        </p:nvSpPr>
        <p:spPr>
          <a:xfrm>
            <a:off x="228600" y="1874520"/>
            <a:ext cx="4251960" cy="1188720"/>
          </a:xfrm>
          <a:prstGeom prst="rect">
            <a:avLst/>
          </a:prstGeom>
          <a:solidFill>
            <a:srgbClr val="FFF3E0"/>
          </a:solidFill>
          <a:ln w="25400">
            <a:solidFill>
              <a:srgbClr val="EF6C00"/>
            </a:solidFill>
            <a:prstDash val="solid"/>
          </a:ln>
        </p:spPr>
      </p:sp>
      <p:sp>
        <p:nvSpPr>
          <p:cNvPr id="11" name="Text 9"/>
          <p:cNvSpPr/>
          <p:nvPr/>
        </p:nvSpPr>
        <p:spPr>
          <a:xfrm>
            <a:off x="320040" y="1892808"/>
            <a:ext cx="4069080" cy="274320"/>
          </a:xfrm>
          <a:prstGeom prst="rect">
            <a:avLst/>
          </a:prstGeom>
          <a:noFill/>
          <a:ln/>
        </p:spPr>
        <p:txBody>
          <a:bodyPr wrap="square" lIns="0" tIns="0" rIns="0" bIns="0" rtlCol="0" anchor="ctr"/>
          <a:lstStyle/>
          <a:p>
            <a:pPr indent="0" marL="0">
              <a:buNone/>
            </a:pPr>
            <a:r>
              <a:rPr lang="en-US" sz="1200" b="1" dirty="0">
                <a:solidFill>
                  <a:srgbClr val="E65100"/>
                </a:solidFill>
                <a:latin typeface="Calibri" pitchFamily="34" charset="0"/>
                <a:ea typeface="Calibri" pitchFamily="34" charset="-122"/>
                <a:cs typeface="Calibri" pitchFamily="34" charset="-120"/>
              </a:rPr>
              <a:t>Intro A</a:t>
            </a:r>
            <a:endParaRPr lang="en-US" sz="1200" dirty="0"/>
          </a:p>
        </p:txBody>
      </p:sp>
      <p:sp>
        <p:nvSpPr>
          <p:cNvPr id="12" name="Text 10"/>
          <p:cNvSpPr/>
          <p:nvPr/>
        </p:nvSpPr>
        <p:spPr>
          <a:xfrm>
            <a:off x="320040" y="2167128"/>
            <a:ext cx="4069080" cy="804672"/>
          </a:xfrm>
          <a:prstGeom prst="rect">
            <a:avLst/>
          </a:prstGeom>
          <a:noFill/>
          <a:ln/>
        </p:spPr>
        <p:txBody>
          <a:bodyPr wrap="square" lIns="0" tIns="0" rIns="0" bIns="0" rtlCol="0" anchor="t"/>
          <a:lstStyle/>
          <a:p>
            <a:pPr indent="0" marL="0">
              <a:buNone/>
            </a:pPr>
            <a:r>
              <a:rPr lang="en-US" sz="1500" i="1" dirty="0">
                <a:solidFill>
                  <a:srgbClr val="1A1A2E"/>
                </a:solidFill>
                <a:latin typeface="Calibri" pitchFamily="34" charset="0"/>
                <a:ea typeface="Calibri" pitchFamily="34" charset="-122"/>
                <a:cs typeface="Calibri" pitchFamily="34" charset="-120"/>
              </a:rPr>
              <a:t>« Il était une fois un garçon. »</a:t>
            </a:r>
            <a:endParaRPr lang="en-US" sz="1500" dirty="0"/>
          </a:p>
        </p:txBody>
      </p:sp>
      <p:sp>
        <p:nvSpPr>
          <p:cNvPr id="13" name="Shape 11"/>
          <p:cNvSpPr/>
          <p:nvPr/>
        </p:nvSpPr>
        <p:spPr>
          <a:xfrm>
            <a:off x="4709160" y="1874520"/>
            <a:ext cx="4251960" cy="1188720"/>
          </a:xfrm>
          <a:prstGeom prst="rect">
            <a:avLst/>
          </a:prstGeom>
          <a:solidFill>
            <a:srgbClr val="E8F5E9"/>
          </a:solidFill>
          <a:ln w="25400">
            <a:solidFill>
              <a:srgbClr val="2E7D32"/>
            </a:solidFill>
            <a:prstDash val="solid"/>
          </a:ln>
        </p:spPr>
      </p:sp>
      <p:sp>
        <p:nvSpPr>
          <p:cNvPr id="14" name="Text 12"/>
          <p:cNvSpPr/>
          <p:nvPr/>
        </p:nvSpPr>
        <p:spPr>
          <a:xfrm>
            <a:off x="4800600" y="1892808"/>
            <a:ext cx="4069080" cy="27432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Intro B</a:t>
            </a:r>
            <a:endParaRPr lang="en-US" sz="1200" dirty="0"/>
          </a:p>
        </p:txBody>
      </p:sp>
      <p:sp>
        <p:nvSpPr>
          <p:cNvPr id="15" name="Text 13"/>
          <p:cNvSpPr/>
          <p:nvPr/>
        </p:nvSpPr>
        <p:spPr>
          <a:xfrm>
            <a:off x="4800600" y="2167128"/>
            <a:ext cx="4069080" cy="804672"/>
          </a:xfrm>
          <a:prstGeom prst="rect">
            <a:avLst/>
          </a:prstGeom>
          <a:noFill/>
          <a:ln/>
        </p:spPr>
        <p:txBody>
          <a:bodyPr wrap="square" lIns="0" tIns="0" rIns="0" bIns="0" rtlCol="0" anchor="t"/>
          <a:lstStyle/>
          <a:p>
            <a:pPr indent="0" marL="0">
              <a:buNone/>
            </a:pPr>
            <a:r>
              <a:rPr lang="en-US" sz="1500" i="1" dirty="0">
                <a:solidFill>
                  <a:srgbClr val="1A1A2E"/>
                </a:solidFill>
                <a:latin typeface="Calibri" pitchFamily="34" charset="0"/>
                <a:ea typeface="Calibri" pitchFamily="34" charset="-122"/>
                <a:cs typeface="Calibri" pitchFamily="34" charset="-120"/>
              </a:rPr>
              <a:t>« Cette nuit-là, quelque chose d'étrange se produisit dans la chambre de Tom. »</a:t>
            </a:r>
            <a:endParaRPr lang="en-US" sz="1500" dirty="0"/>
          </a:p>
        </p:txBody>
      </p:sp>
      <p:sp>
        <p:nvSpPr>
          <p:cNvPr id="16" name="Text 14"/>
          <p:cNvSpPr/>
          <p:nvPr/>
        </p:nvSpPr>
        <p:spPr>
          <a:xfrm>
            <a:off x="228600" y="3200400"/>
            <a:ext cx="8686800" cy="27432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Après le vote :</a:t>
            </a:r>
            <a:endParaRPr lang="en-US" sz="1300" dirty="0"/>
          </a:p>
        </p:txBody>
      </p:sp>
      <p:sp>
        <p:nvSpPr>
          <p:cNvPr id="17" name="Shape 15"/>
          <p:cNvSpPr/>
          <p:nvPr/>
        </p:nvSpPr>
        <p:spPr>
          <a:xfrm>
            <a:off x="228600" y="3520440"/>
            <a:ext cx="4251960" cy="640080"/>
          </a:xfrm>
          <a:prstGeom prst="rect">
            <a:avLst/>
          </a:prstGeom>
          <a:solidFill>
            <a:srgbClr val="FFF3E0"/>
          </a:solidFill>
          <a:ln w="12700">
            <a:solidFill>
              <a:srgbClr val="EF6C00"/>
            </a:solidFill>
            <a:prstDash val="solid"/>
          </a:ln>
        </p:spPr>
      </p:sp>
      <p:sp>
        <p:nvSpPr>
          <p:cNvPr id="18" name="Text 16"/>
          <p:cNvSpPr/>
          <p:nvPr/>
        </p:nvSpPr>
        <p:spPr>
          <a:xfrm>
            <a:off x="320040" y="3538728"/>
            <a:ext cx="4069080" cy="603504"/>
          </a:xfrm>
          <a:prstGeom prst="rect">
            <a:avLst/>
          </a:prstGeom>
          <a:noFill/>
          <a:ln/>
        </p:spPr>
        <p:txBody>
          <a:bodyPr wrap="square" lIns="0" tIns="0" rIns="0" bIns="0" rtlCol="0" anchor="ctr"/>
          <a:lstStyle/>
          <a:p>
            <a:pPr indent="0" marL="0">
              <a:buNone/>
            </a:pPr>
            <a:r>
              <a:rPr lang="en-US" sz="1200" i="1" dirty="0">
                <a:solidFill>
                  <a:srgbClr val="1A1A2E"/>
                </a:solidFill>
                <a:latin typeface="Calibri" pitchFamily="34" charset="0"/>
                <a:ea typeface="Calibri" pitchFamily="34" charset="-122"/>
                <a:cs typeface="Calibri" pitchFamily="34" charset="-120"/>
              </a:rPr>
              <a:t>Ordinaire — ne donne pas envie de lire la suite.</a:t>
            </a:r>
            <a:endParaRPr lang="en-US" sz="1200" dirty="0"/>
          </a:p>
        </p:txBody>
      </p:sp>
      <p:sp>
        <p:nvSpPr>
          <p:cNvPr id="19" name="Shape 17"/>
          <p:cNvSpPr/>
          <p:nvPr/>
        </p:nvSpPr>
        <p:spPr>
          <a:xfrm>
            <a:off x="4709160" y="3520440"/>
            <a:ext cx="4251960" cy="640080"/>
          </a:xfrm>
          <a:prstGeom prst="rect">
            <a:avLst/>
          </a:prstGeom>
          <a:solidFill>
            <a:srgbClr val="E8F5E9"/>
          </a:solidFill>
          <a:ln w="12700">
            <a:solidFill>
              <a:srgbClr val="2E7D32"/>
            </a:solidFill>
            <a:prstDash val="solid"/>
          </a:ln>
        </p:spPr>
      </p:sp>
      <p:sp>
        <p:nvSpPr>
          <p:cNvPr id="20" name="Text 18"/>
          <p:cNvSpPr/>
          <p:nvPr/>
        </p:nvSpPr>
        <p:spPr>
          <a:xfrm>
            <a:off x="4800600" y="3538728"/>
            <a:ext cx="4069080" cy="603504"/>
          </a:xfrm>
          <a:prstGeom prst="rect">
            <a:avLst/>
          </a:prstGeom>
          <a:noFill/>
          <a:ln/>
        </p:spPr>
        <p:txBody>
          <a:bodyPr wrap="square" lIns="0" tIns="0" rIns="0" bIns="0" rtlCol="0" anchor="ctr"/>
          <a:lstStyle/>
          <a:p>
            <a:pPr indent="0" marL="0">
              <a:buNone/>
            </a:pPr>
            <a:r>
              <a:rPr lang="en-US" sz="1200" i="1" dirty="0">
                <a:solidFill>
                  <a:srgbClr val="1A1A2E"/>
                </a:solidFill>
                <a:latin typeface="Calibri" pitchFamily="34" charset="0"/>
                <a:ea typeface="Calibri" pitchFamily="34" charset="-122"/>
                <a:cs typeface="Calibri" pitchFamily="34" charset="-120"/>
              </a:rPr>
              <a:t>Efficace — mystère, cadre précis, personnage nommé.</a:t>
            </a:r>
            <a:endParaRPr lang="en-US" sz="1200" dirty="0"/>
          </a:p>
        </p:txBody>
      </p:sp>
      <p:sp>
        <p:nvSpPr>
          <p:cNvPr id="21" name="Text 19"/>
          <p:cNvSpPr/>
          <p:nvPr/>
        </p:nvSpPr>
        <p:spPr>
          <a:xfrm>
            <a:off x="228600" y="4590288"/>
            <a:ext cx="8686800" cy="34747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 Même exercice avec deux conclusions : laquelle ouvre sur une idée nouvelle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565C0"/>
          </a:solidFill>
          <a:ln w="12700">
            <a:solidFill>
              <a:srgbClr val="1565C0"/>
            </a:solidFill>
            <a:prstDash val="solid"/>
          </a:ln>
        </p:spPr>
      </p:sp>
      <p:sp>
        <p:nvSpPr>
          <p:cNvPr id="3" name="Text 1"/>
          <p:cNvSpPr/>
          <p:nvPr/>
        </p:nvSpPr>
        <p:spPr>
          <a:xfrm>
            <a:off x="228600" y="164592"/>
            <a:ext cx="8686800" cy="594360"/>
          </a:xfrm>
          <a:prstGeom prst="rect">
            <a:avLst/>
          </a:prstGeom>
          <a:noFill/>
          <a:ln/>
        </p:spPr>
        <p:txBody>
          <a:bodyPr wrap="square" lIns="0" tIns="0" rIns="0" bIns="0" rtlCol="0" anchor="ctr"/>
          <a:lstStyle/>
          <a:p>
            <a:pPr algn="l" indent="0" marL="0">
              <a:buNone/>
            </a:pPr>
            <a:r>
              <a:rPr lang="en-US" sz="2800" b="1" dirty="0">
                <a:solidFill>
                  <a:srgbClr val="1A1A2E"/>
                </a:solidFill>
                <a:latin typeface="Trebuchet MS" pitchFamily="34" charset="0"/>
                <a:ea typeface="Trebuchet MS" pitchFamily="34" charset="-122"/>
                <a:cs typeface="Trebuchet MS" pitchFamily="34" charset="-120"/>
              </a:rPr>
              <a:t>Révisons ce texte ensemble</a:t>
            </a:r>
            <a:endParaRPr lang="en-US" sz="2800" dirty="0"/>
          </a:p>
        </p:txBody>
      </p:sp>
      <p:sp>
        <p:nvSpPr>
          <p:cNvPr id="4" name="Text 2"/>
          <p:cNvSpPr/>
          <p:nvPr/>
        </p:nvSpPr>
        <p:spPr>
          <a:xfrm>
            <a:off x="228600" y="749808"/>
            <a:ext cx="6400800" cy="292608"/>
          </a:xfrm>
          <a:prstGeom prst="rect">
            <a:avLst/>
          </a:prstGeom>
          <a:noFill/>
          <a:ln/>
        </p:spPr>
        <p:txBody>
          <a:bodyPr wrap="square" lIns="0" tIns="0" rIns="0" bIns="0" rtlCol="0" anchor="ctr"/>
          <a:lstStyle/>
          <a:p>
            <a:pPr algn="l" indent="0" marL="0">
              <a:buNone/>
            </a:pPr>
            <a:r>
              <a:rPr lang="en-US" sz="1300" i="1" dirty="0">
                <a:solidFill>
                  <a:srgbClr val="546E7A"/>
                </a:solidFill>
                <a:latin typeface="Calibri" pitchFamily="34" charset="0"/>
                <a:ea typeface="Calibri" pitchFamily="34" charset="-122"/>
                <a:cs typeface="Calibri" pitchFamily="34" charset="-120"/>
              </a:rPr>
              <a:t>S7 — Réviser son texte avec des critères</a:t>
            </a:r>
            <a:endParaRPr lang="en-US" sz="1300" dirty="0"/>
          </a:p>
        </p:txBody>
      </p:sp>
      <p:sp>
        <p:nvSpPr>
          <p:cNvPr id="5" name="Shape 3"/>
          <p:cNvSpPr/>
          <p:nvPr/>
        </p:nvSpPr>
        <p:spPr>
          <a:xfrm>
            <a:off x="228600" y="1060704"/>
            <a:ext cx="8686800" cy="0"/>
          </a:xfrm>
          <a:prstGeom prst="line">
            <a:avLst/>
          </a:prstGeom>
          <a:noFill/>
          <a:ln w="12700">
            <a:solidFill>
              <a:srgbClr val="CFD8DC"/>
            </a:solidFill>
            <a:prstDash val="solid"/>
          </a:ln>
        </p:spPr>
      </p:sp>
      <p:sp>
        <p:nvSpPr>
          <p:cNvPr id="6" name="Shape 4"/>
          <p:cNvSpPr/>
          <p:nvPr/>
        </p:nvSpPr>
        <p:spPr>
          <a:xfrm>
            <a:off x="8412480" y="91440"/>
            <a:ext cx="594360" cy="594360"/>
          </a:xfrm>
          <a:prstGeom prst="ellipse">
            <a:avLst/>
          </a:prstGeom>
          <a:solidFill>
            <a:srgbClr val="F57F17"/>
          </a:solidFill>
          <a:ln w="12700">
            <a:solidFill>
              <a:srgbClr val="F57F17"/>
            </a:solidFill>
            <a:prstDash val="solid"/>
          </a:ln>
        </p:spPr>
      </p:sp>
      <p:sp>
        <p:nvSpPr>
          <p:cNvPr id="7" name="Text 5"/>
          <p:cNvSpPr/>
          <p:nvPr/>
        </p:nvSpPr>
        <p:spPr>
          <a:xfrm>
            <a:off x="8412480" y="128016"/>
            <a:ext cx="594360" cy="52120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S7</a:t>
            </a:r>
            <a:endParaRPr lang="en-US" sz="1800" dirty="0"/>
          </a:p>
        </p:txBody>
      </p:sp>
      <p:sp>
        <p:nvSpPr>
          <p:cNvPr id="8" name="Shape 6"/>
          <p:cNvSpPr/>
          <p:nvPr/>
        </p:nvSpPr>
        <p:spPr>
          <a:xfrm>
            <a:off x="228600" y="1170432"/>
            <a:ext cx="8686800" cy="594360"/>
          </a:xfrm>
          <a:prstGeom prst="rect">
            <a:avLst/>
          </a:prstGeom>
          <a:solidFill>
            <a:srgbClr val="E3F2FD"/>
          </a:solidFill>
          <a:ln w="25400">
            <a:solidFill>
              <a:srgbClr val="1565C0"/>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365760" y="1243584"/>
            <a:ext cx="8412480" cy="448056"/>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Lisez ce texte. Pour chaque critère de la grille, dites : validé ✓ ou à corriger ✗ ?</a:t>
            </a:r>
            <a:endParaRPr lang="en-US" sz="1400" dirty="0"/>
          </a:p>
        </p:txBody>
      </p:sp>
      <p:sp>
        <p:nvSpPr>
          <p:cNvPr id="10" name="Shape 8"/>
          <p:cNvSpPr/>
          <p:nvPr/>
        </p:nvSpPr>
        <p:spPr>
          <a:xfrm>
            <a:off x="228600" y="1874520"/>
            <a:ext cx="5029200" cy="1508760"/>
          </a:xfrm>
          <a:prstGeom prst="rect">
            <a:avLst/>
          </a:prstGeom>
          <a:solidFill>
            <a:srgbClr val="1A1A2E"/>
          </a:solidFill>
          <a:ln w="12700">
            <a:solidFill>
              <a:srgbClr val="1A1A2E"/>
            </a:solidFill>
            <a:prstDash val="solid"/>
          </a:ln>
        </p:spPr>
      </p:sp>
      <p:sp>
        <p:nvSpPr>
          <p:cNvPr id="11" name="Text 9"/>
          <p:cNvSpPr/>
          <p:nvPr/>
        </p:nvSpPr>
        <p:spPr>
          <a:xfrm>
            <a:off x="365760" y="1901952"/>
            <a:ext cx="4754880" cy="1463040"/>
          </a:xfrm>
          <a:prstGeom prst="rect">
            <a:avLst/>
          </a:prstGeom>
          <a:noFill/>
          <a:ln/>
        </p:spPr>
        <p:txBody>
          <a:bodyPr wrap="square" lIns="0" tIns="0" rIns="0" bIns="0" rtlCol="0" anchor="t"/>
          <a:lstStyle/>
          <a:p>
            <a:pPr indent="0" marL="0">
              <a:buNone/>
            </a:pPr>
            <a:r>
              <a:rPr lang="en-US" sz="1100" b="1" dirty="0">
                <a:solidFill>
                  <a:srgbClr val="90CAF9"/>
                </a:solidFill>
              </a:rPr>
              <a:t>Texte à réviser</a:t>
            </a:r>
            <a:endParaRPr lang="en-US" sz="1100" dirty="0"/>
          </a:p>
          <a:p>
            <a:pPr indent="0" marL="0">
              <a:buNone/>
            </a:pPr>
            <a:r>
              <a:rPr lang="en-US" sz="1300" i="1" dirty="0">
                <a:solidFill>
                  <a:srgbClr val="ECEFF1"/>
                </a:solidFill>
              </a:rPr>
              <a:t>il etait une fois un garçon le garçon s'appelait Tom Tom aimait les animaux Tom avait un chien le chien etait grand le chien courait partout Tom courait avec le chien ils etaient heureux</a:t>
            </a:r>
            <a:endParaRPr lang="en-US" sz="1100" dirty="0"/>
          </a:p>
        </p:txBody>
      </p:sp>
      <p:sp>
        <p:nvSpPr>
          <p:cNvPr id="12" name="Shape 10"/>
          <p:cNvSpPr/>
          <p:nvPr/>
        </p:nvSpPr>
        <p:spPr>
          <a:xfrm>
            <a:off x="5440680" y="1874520"/>
            <a:ext cx="3474720" cy="1508760"/>
          </a:xfrm>
          <a:prstGeom prst="rect">
            <a:avLst/>
          </a:prstGeom>
          <a:solidFill>
            <a:srgbClr val="E3F2FD"/>
          </a:solidFill>
          <a:ln w="25400">
            <a:solidFill>
              <a:srgbClr val="1565C0"/>
            </a:solidFill>
            <a:prstDash val="solid"/>
          </a:ln>
        </p:spPr>
      </p:sp>
      <p:sp>
        <p:nvSpPr>
          <p:cNvPr id="13" name="Text 11"/>
          <p:cNvSpPr/>
          <p:nvPr/>
        </p:nvSpPr>
        <p:spPr>
          <a:xfrm>
            <a:off x="5440680" y="1892808"/>
            <a:ext cx="3474720" cy="274320"/>
          </a:xfrm>
          <a:prstGeom prst="rect">
            <a:avLst/>
          </a:prstGeom>
          <a:noFill/>
          <a:ln/>
        </p:spPr>
        <p:txBody>
          <a:bodyPr wrap="square" lIns="0" tIns="0" rIns="0" bIns="0" rtlCol="0" anchor="ctr"/>
          <a:lstStyle/>
          <a:p>
            <a:pPr algn="ctr" indent="0" marL="0">
              <a:buNone/>
            </a:pPr>
            <a:r>
              <a:rPr lang="en-US" sz="1100" b="1" dirty="0">
                <a:solidFill>
                  <a:srgbClr val="1565C0"/>
                </a:solidFill>
                <a:latin typeface="Calibri" pitchFamily="34" charset="0"/>
                <a:ea typeface="Calibri" pitchFamily="34" charset="-122"/>
                <a:cs typeface="Calibri" pitchFamily="34" charset="-120"/>
              </a:rPr>
              <a:t>Grille de relecture</a:t>
            </a:r>
            <a:endParaRPr lang="en-US" sz="1100" dirty="0"/>
          </a:p>
        </p:txBody>
      </p:sp>
      <p:sp>
        <p:nvSpPr>
          <p:cNvPr id="14" name="Shape 12"/>
          <p:cNvSpPr/>
          <p:nvPr/>
        </p:nvSpPr>
        <p:spPr>
          <a:xfrm>
            <a:off x="8595360" y="2212848"/>
            <a:ext cx="411480" cy="320040"/>
          </a:xfrm>
          <a:prstGeom prst="roundRect">
            <a:avLst>
              <a:gd name="adj" fmla="val 14286"/>
            </a:avLst>
          </a:prstGeom>
          <a:solidFill>
            <a:srgbClr val="43A047"/>
          </a:solidFill>
          <a:ln w="12700">
            <a:solidFill>
              <a:srgbClr val="43A047"/>
            </a:solidFill>
            <a:prstDash val="solid"/>
          </a:ln>
        </p:spPr>
      </p:sp>
      <p:sp>
        <p:nvSpPr>
          <p:cNvPr id="15" name="Text 13"/>
          <p:cNvSpPr/>
          <p:nvPr/>
        </p:nvSpPr>
        <p:spPr>
          <a:xfrm>
            <a:off x="8595360" y="2221992"/>
            <a:ext cx="411480"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5532120" y="2212848"/>
            <a:ext cx="2834640" cy="256032"/>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Phrases complètes ?</a:t>
            </a:r>
            <a:endParaRPr lang="en-US" sz="1200" dirty="0"/>
          </a:p>
        </p:txBody>
      </p:sp>
      <p:sp>
        <p:nvSpPr>
          <p:cNvPr id="17" name="Shape 15"/>
          <p:cNvSpPr/>
          <p:nvPr/>
        </p:nvSpPr>
        <p:spPr>
          <a:xfrm>
            <a:off x="8595360" y="2487168"/>
            <a:ext cx="411480" cy="320040"/>
          </a:xfrm>
          <a:prstGeom prst="roundRect">
            <a:avLst>
              <a:gd name="adj" fmla="val 14286"/>
            </a:avLst>
          </a:prstGeom>
          <a:solidFill>
            <a:srgbClr val="E53935"/>
          </a:solidFill>
          <a:ln w="12700">
            <a:solidFill>
              <a:srgbClr val="E53935"/>
            </a:solidFill>
            <a:prstDash val="solid"/>
          </a:ln>
        </p:spPr>
      </p:sp>
      <p:sp>
        <p:nvSpPr>
          <p:cNvPr id="18" name="Text 16"/>
          <p:cNvSpPr/>
          <p:nvPr/>
        </p:nvSpPr>
        <p:spPr>
          <a:xfrm>
            <a:off x="8595360" y="2496312"/>
            <a:ext cx="411480"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5532120" y="2487168"/>
            <a:ext cx="2834640" cy="256032"/>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Ponctuation ?</a:t>
            </a:r>
            <a:endParaRPr lang="en-US" sz="1200" dirty="0"/>
          </a:p>
        </p:txBody>
      </p:sp>
      <p:sp>
        <p:nvSpPr>
          <p:cNvPr id="20" name="Shape 18"/>
          <p:cNvSpPr/>
          <p:nvPr/>
        </p:nvSpPr>
        <p:spPr>
          <a:xfrm>
            <a:off x="8595360" y="2761488"/>
            <a:ext cx="411480" cy="320040"/>
          </a:xfrm>
          <a:prstGeom prst="roundRect">
            <a:avLst>
              <a:gd name="adj" fmla="val 14286"/>
            </a:avLst>
          </a:prstGeom>
          <a:solidFill>
            <a:srgbClr val="E53935"/>
          </a:solidFill>
          <a:ln w="12700">
            <a:solidFill>
              <a:srgbClr val="E53935"/>
            </a:solidFill>
            <a:prstDash val="solid"/>
          </a:ln>
        </p:spPr>
      </p:sp>
      <p:sp>
        <p:nvSpPr>
          <p:cNvPr id="21" name="Text 19"/>
          <p:cNvSpPr/>
          <p:nvPr/>
        </p:nvSpPr>
        <p:spPr>
          <a:xfrm>
            <a:off x="8595360" y="2770632"/>
            <a:ext cx="411480"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5532120" y="2761488"/>
            <a:ext cx="2834640" cy="256032"/>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Majuscules ?</a:t>
            </a:r>
            <a:endParaRPr lang="en-US" sz="1200" dirty="0"/>
          </a:p>
        </p:txBody>
      </p:sp>
      <p:sp>
        <p:nvSpPr>
          <p:cNvPr id="23" name="Shape 21"/>
          <p:cNvSpPr/>
          <p:nvPr/>
        </p:nvSpPr>
        <p:spPr>
          <a:xfrm>
            <a:off x="8595360" y="3035808"/>
            <a:ext cx="411480" cy="320040"/>
          </a:xfrm>
          <a:prstGeom prst="roundRect">
            <a:avLst>
              <a:gd name="adj" fmla="val 14286"/>
            </a:avLst>
          </a:prstGeom>
          <a:solidFill>
            <a:srgbClr val="E53935"/>
          </a:solidFill>
          <a:ln w="12700">
            <a:solidFill>
              <a:srgbClr val="E53935"/>
            </a:solidFill>
            <a:prstDash val="solid"/>
          </a:ln>
        </p:spPr>
      </p:sp>
      <p:sp>
        <p:nvSpPr>
          <p:cNvPr id="24" name="Text 22"/>
          <p:cNvSpPr/>
          <p:nvPr/>
        </p:nvSpPr>
        <p:spPr>
          <a:xfrm>
            <a:off x="8595360" y="3044952"/>
            <a:ext cx="411480"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5532120" y="3035808"/>
            <a:ext cx="2834640" cy="256032"/>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Répétitions ?</a:t>
            </a:r>
            <a:endParaRPr lang="en-US" sz="1200" dirty="0"/>
          </a:p>
        </p:txBody>
      </p:sp>
      <p:sp>
        <p:nvSpPr>
          <p:cNvPr id="26" name="Shape 24"/>
          <p:cNvSpPr/>
          <p:nvPr/>
        </p:nvSpPr>
        <p:spPr>
          <a:xfrm>
            <a:off x="228600" y="3474720"/>
            <a:ext cx="8686800" cy="822960"/>
          </a:xfrm>
          <a:prstGeom prst="rect">
            <a:avLst/>
          </a:prstGeom>
          <a:solidFill>
            <a:srgbClr val="E8F5E9"/>
          </a:solidFill>
          <a:ln w="25400">
            <a:solidFill>
              <a:srgbClr val="2E7D32"/>
            </a:solidFill>
            <a:prstDash val="solid"/>
          </a:ln>
        </p:spPr>
      </p:sp>
      <p:sp>
        <p:nvSpPr>
          <p:cNvPr id="27" name="Text 25"/>
          <p:cNvSpPr/>
          <p:nvPr/>
        </p:nvSpPr>
        <p:spPr>
          <a:xfrm>
            <a:off x="320040" y="3493008"/>
            <a:ext cx="2011680" cy="256032"/>
          </a:xfrm>
          <a:prstGeom prst="rect">
            <a:avLst/>
          </a:prstGeom>
          <a:noFill/>
          <a:ln/>
        </p:spPr>
        <p:txBody>
          <a:bodyPr wrap="square" lIns="0" tIns="0" rIns="0" bIns="0"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Version corrigée :</a:t>
            </a:r>
            <a:endParaRPr lang="en-US" sz="1100" dirty="0"/>
          </a:p>
        </p:txBody>
      </p:sp>
      <p:sp>
        <p:nvSpPr>
          <p:cNvPr id="28" name="Text 26"/>
          <p:cNvSpPr/>
          <p:nvPr/>
        </p:nvSpPr>
        <p:spPr>
          <a:xfrm>
            <a:off x="320040" y="3749040"/>
            <a:ext cx="8503920" cy="512064"/>
          </a:xfrm>
          <a:prstGeom prst="rect">
            <a:avLst/>
          </a:prstGeom>
          <a:noFill/>
          <a:ln/>
        </p:spPr>
        <p:txBody>
          <a:bodyPr wrap="square" lIns="0" tIns="0" rIns="0" bIns="0" rtlCol="0" anchor="t"/>
          <a:lstStyle/>
          <a:p>
            <a:pPr indent="0" marL="0">
              <a:buNone/>
            </a:pPr>
            <a:r>
              <a:rPr lang="en-US" sz="1300" i="1" dirty="0">
                <a:solidFill>
                  <a:srgbClr val="1A1A2E"/>
                </a:solidFill>
                <a:latin typeface="Calibri" pitchFamily="34" charset="0"/>
                <a:ea typeface="Calibri" pitchFamily="34" charset="-122"/>
                <a:cs typeface="Calibri" pitchFamily="34" charset="-120"/>
              </a:rPr>
              <a:t>Il était une fois un garçon qui s'appelait Tom. Il aimait les animaux. Il avait un grand chien qui courait partout. Ensemble, ils étaient heureux.</a:t>
            </a:r>
            <a:endParaRPr lang="en-US" sz="1300" dirty="0"/>
          </a:p>
        </p:txBody>
      </p:sp>
      <p:sp>
        <p:nvSpPr>
          <p:cNvPr id="29" name="Text 27"/>
          <p:cNvSpPr/>
          <p:nvPr/>
        </p:nvSpPr>
        <p:spPr>
          <a:xfrm>
            <a:off x="228600" y="4590288"/>
            <a:ext cx="8686800" cy="34747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 Chacun va maintenant appliquer cette grille à son propre texte.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A1B9A"/>
          </a:solidFill>
          <a:ln w="12700">
            <a:solidFill>
              <a:srgbClr val="6A1B9A"/>
            </a:solidFill>
            <a:prstDash val="solid"/>
          </a:ln>
        </p:spPr>
      </p:sp>
      <p:sp>
        <p:nvSpPr>
          <p:cNvPr id="3" name="Text 1"/>
          <p:cNvSpPr/>
          <p:nvPr/>
        </p:nvSpPr>
        <p:spPr>
          <a:xfrm>
            <a:off x="228600" y="164592"/>
            <a:ext cx="8686800" cy="594360"/>
          </a:xfrm>
          <a:prstGeom prst="rect">
            <a:avLst/>
          </a:prstGeom>
          <a:noFill/>
          <a:ln/>
        </p:spPr>
        <p:txBody>
          <a:bodyPr wrap="square" lIns="0" tIns="0" rIns="0" bIns="0" rtlCol="0" anchor="ctr"/>
          <a:lstStyle/>
          <a:p>
            <a:pPr algn="l" indent="0" marL="0">
              <a:buNone/>
            </a:pPr>
            <a:r>
              <a:rPr lang="en-US" sz="2800" b="1" dirty="0">
                <a:solidFill>
                  <a:srgbClr val="1A1A2E"/>
                </a:solidFill>
                <a:latin typeface="Trebuchet MS" pitchFamily="34" charset="0"/>
                <a:ea typeface="Trebuchet MS" pitchFamily="34" charset="-122"/>
                <a:cs typeface="Trebuchet MS" pitchFamily="34" charset="-120"/>
              </a:rPr>
              <a:t>Avant d'écrire, je planifie</a:t>
            </a:r>
            <a:endParaRPr lang="en-US" sz="2800" dirty="0"/>
          </a:p>
        </p:txBody>
      </p:sp>
      <p:sp>
        <p:nvSpPr>
          <p:cNvPr id="4" name="Text 2"/>
          <p:cNvSpPr/>
          <p:nvPr/>
        </p:nvSpPr>
        <p:spPr>
          <a:xfrm>
            <a:off x="228600" y="749808"/>
            <a:ext cx="6400800" cy="292608"/>
          </a:xfrm>
          <a:prstGeom prst="rect">
            <a:avLst/>
          </a:prstGeom>
          <a:noFill/>
          <a:ln/>
        </p:spPr>
        <p:txBody>
          <a:bodyPr wrap="square" lIns="0" tIns="0" rIns="0" bIns="0" rtlCol="0" anchor="ctr"/>
          <a:lstStyle/>
          <a:p>
            <a:pPr algn="l" indent="0" marL="0">
              <a:buNone/>
            </a:pPr>
            <a:r>
              <a:rPr lang="en-US" sz="1300" i="1" dirty="0">
                <a:solidFill>
                  <a:srgbClr val="546E7A"/>
                </a:solidFill>
                <a:latin typeface="Calibri" pitchFamily="34" charset="0"/>
                <a:ea typeface="Calibri" pitchFamily="34" charset="-122"/>
                <a:cs typeface="Calibri" pitchFamily="34" charset="-120"/>
              </a:rPr>
              <a:t>S8 — Écriture longue : intégration</a:t>
            </a:r>
            <a:endParaRPr lang="en-US" sz="1300" dirty="0"/>
          </a:p>
        </p:txBody>
      </p:sp>
      <p:sp>
        <p:nvSpPr>
          <p:cNvPr id="5" name="Shape 3"/>
          <p:cNvSpPr/>
          <p:nvPr/>
        </p:nvSpPr>
        <p:spPr>
          <a:xfrm>
            <a:off x="228600" y="1060704"/>
            <a:ext cx="8686800" cy="0"/>
          </a:xfrm>
          <a:prstGeom prst="line">
            <a:avLst/>
          </a:prstGeom>
          <a:noFill/>
          <a:ln w="12700">
            <a:solidFill>
              <a:srgbClr val="CFD8DC"/>
            </a:solidFill>
            <a:prstDash val="solid"/>
          </a:ln>
        </p:spPr>
      </p:sp>
      <p:sp>
        <p:nvSpPr>
          <p:cNvPr id="6" name="Shape 4"/>
          <p:cNvSpPr/>
          <p:nvPr/>
        </p:nvSpPr>
        <p:spPr>
          <a:xfrm>
            <a:off x="8412480" y="91440"/>
            <a:ext cx="594360" cy="594360"/>
          </a:xfrm>
          <a:prstGeom prst="ellipse">
            <a:avLst/>
          </a:prstGeom>
          <a:solidFill>
            <a:srgbClr val="F57F17"/>
          </a:solidFill>
          <a:ln w="12700">
            <a:solidFill>
              <a:srgbClr val="F57F17"/>
            </a:solidFill>
            <a:prstDash val="solid"/>
          </a:ln>
        </p:spPr>
      </p:sp>
      <p:sp>
        <p:nvSpPr>
          <p:cNvPr id="7" name="Text 5"/>
          <p:cNvSpPr/>
          <p:nvPr/>
        </p:nvSpPr>
        <p:spPr>
          <a:xfrm>
            <a:off x="8412480" y="128016"/>
            <a:ext cx="594360" cy="52120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S8</a:t>
            </a:r>
            <a:endParaRPr lang="en-US" sz="1800" dirty="0"/>
          </a:p>
        </p:txBody>
      </p:sp>
      <p:sp>
        <p:nvSpPr>
          <p:cNvPr id="8" name="Shape 6"/>
          <p:cNvSpPr/>
          <p:nvPr/>
        </p:nvSpPr>
        <p:spPr>
          <a:xfrm>
            <a:off x="228600" y="1170432"/>
            <a:ext cx="8686800" cy="594360"/>
          </a:xfrm>
          <a:prstGeom prst="rect">
            <a:avLst/>
          </a:prstGeom>
          <a:solidFill>
            <a:srgbClr val="F3E5F5"/>
          </a:solidFill>
          <a:ln w="25400">
            <a:solidFill>
              <a:srgbClr val="6A1B9A"/>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365760" y="1243584"/>
            <a:ext cx="8412480" cy="448056"/>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Répondez à ces 3 questions sur votre brouillon (1 ligne chacune). Partagez avec la classe avant de commencer.</a:t>
            </a:r>
            <a:endParaRPr lang="en-US" sz="1400" dirty="0"/>
          </a:p>
        </p:txBody>
      </p:sp>
      <p:sp>
        <p:nvSpPr>
          <p:cNvPr id="10" name="Shape 8"/>
          <p:cNvSpPr/>
          <p:nvPr/>
        </p:nvSpPr>
        <p:spPr>
          <a:xfrm>
            <a:off x="228600" y="2084832"/>
            <a:ext cx="438912" cy="438912"/>
          </a:xfrm>
          <a:prstGeom prst="ellipse">
            <a:avLst/>
          </a:prstGeom>
          <a:solidFill>
            <a:srgbClr val="6A1B9A"/>
          </a:solidFill>
          <a:ln w="12700">
            <a:solidFill>
              <a:srgbClr val="6A1B9A"/>
            </a:solidFill>
            <a:prstDash val="solid"/>
          </a:ln>
        </p:spPr>
      </p:sp>
      <p:sp>
        <p:nvSpPr>
          <p:cNvPr id="11" name="Text 9"/>
          <p:cNvSpPr/>
          <p:nvPr/>
        </p:nvSpPr>
        <p:spPr>
          <a:xfrm>
            <a:off x="228600" y="20848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12" name="Shape 10"/>
          <p:cNvSpPr/>
          <p:nvPr/>
        </p:nvSpPr>
        <p:spPr>
          <a:xfrm>
            <a:off x="804672" y="1920240"/>
            <a:ext cx="8110728" cy="457200"/>
          </a:xfrm>
          <a:prstGeom prst="rect">
            <a:avLst/>
          </a:prstGeom>
          <a:solidFill>
            <a:srgbClr val="F3E5F5"/>
          </a:solidFill>
          <a:ln w="12700">
            <a:solidFill>
              <a:srgbClr val="6A1B9A"/>
            </a:solidFill>
            <a:prstDash val="solid"/>
          </a:ln>
        </p:spPr>
      </p:sp>
      <p:sp>
        <p:nvSpPr>
          <p:cNvPr id="13" name="Text 11"/>
          <p:cNvSpPr/>
          <p:nvPr/>
        </p:nvSpPr>
        <p:spPr>
          <a:xfrm>
            <a:off x="896112" y="1956816"/>
            <a:ext cx="7927848" cy="38404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Quel est mon sujet ou mon personnage principal ?</a:t>
            </a:r>
            <a:endParaRPr lang="en-US" sz="1500" dirty="0"/>
          </a:p>
        </p:txBody>
      </p:sp>
      <p:sp>
        <p:nvSpPr>
          <p:cNvPr id="14" name="Text 12"/>
          <p:cNvSpPr/>
          <p:nvPr/>
        </p:nvSpPr>
        <p:spPr>
          <a:xfrm>
            <a:off x="896112" y="2414016"/>
            <a:ext cx="7927848" cy="329184"/>
          </a:xfrm>
          <a:prstGeom prst="rect">
            <a:avLst/>
          </a:prstGeom>
          <a:noFill/>
          <a:ln/>
        </p:spPr>
        <p:txBody>
          <a:bodyPr wrap="square" lIns="0" tIns="0" rIns="0" bIns="0" rtlCol="0" anchor="t"/>
          <a:lstStyle/>
          <a:p>
            <a:pPr indent="0" marL="0">
              <a:buNone/>
            </a:pPr>
            <a:r>
              <a:rPr lang="en-US" sz="1200" i="1" dirty="0">
                <a:solidFill>
                  <a:srgbClr val="546E7A"/>
                </a:solidFill>
                <a:latin typeface="Calibri" pitchFamily="34" charset="0"/>
                <a:ea typeface="Calibri" pitchFamily="34" charset="-122"/>
                <a:cs typeface="Calibri" pitchFamily="34" charset="-120"/>
              </a:rPr>
              <a:t>Ex. : "Une fille qui découvre une porte secrète dans son jardin."</a:t>
            </a:r>
            <a:endParaRPr lang="en-US" sz="1200" dirty="0"/>
          </a:p>
        </p:txBody>
      </p:sp>
      <p:sp>
        <p:nvSpPr>
          <p:cNvPr id="15" name="Shape 13"/>
          <p:cNvSpPr/>
          <p:nvPr/>
        </p:nvSpPr>
        <p:spPr>
          <a:xfrm>
            <a:off x="228600" y="3044952"/>
            <a:ext cx="438912" cy="438912"/>
          </a:xfrm>
          <a:prstGeom prst="ellipse">
            <a:avLst/>
          </a:prstGeom>
          <a:solidFill>
            <a:srgbClr val="6A1B9A"/>
          </a:solidFill>
          <a:ln w="12700">
            <a:solidFill>
              <a:srgbClr val="6A1B9A"/>
            </a:solidFill>
            <a:prstDash val="solid"/>
          </a:ln>
        </p:spPr>
      </p:sp>
      <p:sp>
        <p:nvSpPr>
          <p:cNvPr id="16" name="Text 14"/>
          <p:cNvSpPr/>
          <p:nvPr/>
        </p:nvSpPr>
        <p:spPr>
          <a:xfrm>
            <a:off x="228600" y="304495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7" name="Shape 15"/>
          <p:cNvSpPr/>
          <p:nvPr/>
        </p:nvSpPr>
        <p:spPr>
          <a:xfrm>
            <a:off x="804672" y="2880360"/>
            <a:ext cx="8110728" cy="457200"/>
          </a:xfrm>
          <a:prstGeom prst="rect">
            <a:avLst/>
          </a:prstGeom>
          <a:solidFill>
            <a:srgbClr val="F3E5F5"/>
          </a:solidFill>
          <a:ln w="12700">
            <a:solidFill>
              <a:srgbClr val="6A1B9A"/>
            </a:solidFill>
            <a:prstDash val="solid"/>
          </a:ln>
        </p:spPr>
      </p:sp>
      <p:sp>
        <p:nvSpPr>
          <p:cNvPr id="18" name="Text 16"/>
          <p:cNvSpPr/>
          <p:nvPr/>
        </p:nvSpPr>
        <p:spPr>
          <a:xfrm>
            <a:off x="896112" y="2916936"/>
            <a:ext cx="7927848" cy="38404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Combien de parties dans mon texte ? Quelle idée dans chacune ?</a:t>
            </a:r>
            <a:endParaRPr lang="en-US" sz="1500" dirty="0"/>
          </a:p>
        </p:txBody>
      </p:sp>
      <p:sp>
        <p:nvSpPr>
          <p:cNvPr id="19" name="Text 17"/>
          <p:cNvSpPr/>
          <p:nvPr/>
        </p:nvSpPr>
        <p:spPr>
          <a:xfrm>
            <a:off x="896112" y="3374136"/>
            <a:ext cx="7927848" cy="329184"/>
          </a:xfrm>
          <a:prstGeom prst="rect">
            <a:avLst/>
          </a:prstGeom>
          <a:noFill/>
          <a:ln/>
        </p:spPr>
        <p:txBody>
          <a:bodyPr wrap="square" lIns="0" tIns="0" rIns="0" bIns="0" rtlCol="0" anchor="t"/>
          <a:lstStyle/>
          <a:p>
            <a:pPr indent="0" marL="0">
              <a:buNone/>
            </a:pPr>
            <a:r>
              <a:rPr lang="en-US" sz="1200" i="1" dirty="0">
                <a:solidFill>
                  <a:srgbClr val="546E7A"/>
                </a:solidFill>
                <a:latin typeface="Calibri" pitchFamily="34" charset="0"/>
                <a:ea typeface="Calibri" pitchFamily="34" charset="-122"/>
                <a:cs typeface="Calibri" pitchFamily="34" charset="-120"/>
              </a:rPr>
              <a:t>Ex. : "3 parties : découverte / exploration / retour."</a:t>
            </a:r>
            <a:endParaRPr lang="en-US" sz="1200" dirty="0"/>
          </a:p>
        </p:txBody>
      </p:sp>
      <p:sp>
        <p:nvSpPr>
          <p:cNvPr id="20" name="Shape 18"/>
          <p:cNvSpPr/>
          <p:nvPr/>
        </p:nvSpPr>
        <p:spPr>
          <a:xfrm>
            <a:off x="228600" y="4005072"/>
            <a:ext cx="438912" cy="438912"/>
          </a:xfrm>
          <a:prstGeom prst="ellipse">
            <a:avLst/>
          </a:prstGeom>
          <a:solidFill>
            <a:srgbClr val="6A1B9A"/>
          </a:solidFill>
          <a:ln w="12700">
            <a:solidFill>
              <a:srgbClr val="6A1B9A"/>
            </a:solidFill>
            <a:prstDash val="solid"/>
          </a:ln>
        </p:spPr>
      </p:sp>
      <p:sp>
        <p:nvSpPr>
          <p:cNvPr id="21" name="Text 19"/>
          <p:cNvSpPr/>
          <p:nvPr/>
        </p:nvSpPr>
        <p:spPr>
          <a:xfrm>
            <a:off x="228600" y="40050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22" name="Shape 20"/>
          <p:cNvSpPr/>
          <p:nvPr/>
        </p:nvSpPr>
        <p:spPr>
          <a:xfrm>
            <a:off x="804672" y="3840480"/>
            <a:ext cx="8110728" cy="457200"/>
          </a:xfrm>
          <a:prstGeom prst="rect">
            <a:avLst/>
          </a:prstGeom>
          <a:solidFill>
            <a:srgbClr val="F3E5F5"/>
          </a:solidFill>
          <a:ln w="12700">
            <a:solidFill>
              <a:srgbClr val="6A1B9A"/>
            </a:solidFill>
            <a:prstDash val="solid"/>
          </a:ln>
        </p:spPr>
      </p:sp>
      <p:sp>
        <p:nvSpPr>
          <p:cNvPr id="23" name="Text 21"/>
          <p:cNvSpPr/>
          <p:nvPr/>
        </p:nvSpPr>
        <p:spPr>
          <a:xfrm>
            <a:off x="896112" y="3877056"/>
            <a:ext cx="7927848" cy="38404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Comment vais-je commencer ma première phrase ?</a:t>
            </a:r>
            <a:endParaRPr lang="en-US" sz="1500" dirty="0"/>
          </a:p>
        </p:txBody>
      </p:sp>
      <p:sp>
        <p:nvSpPr>
          <p:cNvPr id="24" name="Text 22"/>
          <p:cNvSpPr/>
          <p:nvPr/>
        </p:nvSpPr>
        <p:spPr>
          <a:xfrm>
            <a:off x="896112" y="4334256"/>
            <a:ext cx="7927848" cy="329184"/>
          </a:xfrm>
          <a:prstGeom prst="rect">
            <a:avLst/>
          </a:prstGeom>
          <a:noFill/>
          <a:ln/>
        </p:spPr>
        <p:txBody>
          <a:bodyPr wrap="square" lIns="0" tIns="0" rIns="0" bIns="0" rtlCol="0" anchor="t"/>
          <a:lstStyle/>
          <a:p>
            <a:pPr indent="0" marL="0">
              <a:buNone/>
            </a:pPr>
            <a:r>
              <a:rPr lang="en-US" sz="1200" i="1" dirty="0">
                <a:solidFill>
                  <a:srgbClr val="546E7A"/>
                </a:solidFill>
                <a:latin typeface="Calibri" pitchFamily="34" charset="0"/>
                <a:ea typeface="Calibri" pitchFamily="34" charset="-122"/>
                <a:cs typeface="Calibri" pitchFamily="34" charset="-120"/>
              </a:rPr>
              <a:t>Ex. : "Ce matin-là, Inès remarqua quelque chose d'étrange…"</a:t>
            </a:r>
            <a:endParaRPr lang="en-US" sz="1200" dirty="0"/>
          </a:p>
        </p:txBody>
      </p:sp>
      <p:sp>
        <p:nvSpPr>
          <p:cNvPr id="25" name="Text 23"/>
          <p:cNvSpPr/>
          <p:nvPr/>
        </p:nvSpPr>
        <p:spPr>
          <a:xfrm>
            <a:off x="228600" y="4590288"/>
            <a:ext cx="8686800" cy="34747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 2-3 élèves partagent leur plan à l'oral. Puis tout le monde commence à écrire.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Production d'écrits — Phase 4 — Exercices collectifs</dc:title>
  <dc:subject>PptxGenJS Presentation</dc:subject>
  <dc:creator>PptxGenJS</dc:creator>
  <cp:lastModifiedBy>PptxGenJS</cp:lastModifiedBy>
  <cp:revision>1</cp:revision>
  <dcterms:created xsi:type="dcterms:W3CDTF">2026-04-14T08:47:13Z</dcterms:created>
  <dcterms:modified xsi:type="dcterms:W3CDTF">2026-04-14T08:47:13Z</dcterms:modified>
</cp:coreProperties>
</file>